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6" r:id="rId19"/>
    <p:sldId id="267" r:id="rId20"/>
    <p:sldId id="268" r:id="rId21"/>
    <p:sldId id="269" r:id="rId22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921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4.1 — ARCHITECTURE   (about 35 seconds)</a:t>
            </a:r>
          </a:p>
          <a:p/>
          <a:p>
            <a:r>
              <a:t>"These two diagrams show how the system is put together.</a:t>
            </a:r>
          </a:p>
          <a:p/>
          <a:p>
            <a:r>
              <a:t>On the left is the software. Three layers, and each one has a single job. The top layer</a:t>
            </a:r>
          </a:p>
          <a:p>
            <a:r>
              <a:t>is what you see in the browser — customer portal, staff dashboard, driver interface.</a:t>
            </a:r>
          </a:p>
          <a:p>
            <a:r>
              <a:t>Built with Bootstrap 5, so the same site works on a driver's phone and an office desktop.</a:t>
            </a:r>
          </a:p>
          <a:p>
            <a:r>
              <a:t>That's NFR9 and NFR10.</a:t>
            </a:r>
          </a:p>
          <a:p/>
          <a:p>
            <a:r>
              <a:t>The middle layer is where the thinking happens, and it's built as Model-View-Controller</a:t>
            </a:r>
          </a:p>
          <a:p>
            <a:r>
              <a:t>because NFR11 asks for it. Every business rule lives here once: work out the cost before</a:t>
            </a:r>
          </a:p>
          <a:p>
            <a:r>
              <a:t>the customer confirms, block hazardous waste from a standard bin, stop a truck being</a:t>
            </a:r>
          </a:p>
          <a:p>
            <a:r>
              <a:t>booked twice in the same slot. If BINCOL changes a rule later, we change it in one place</a:t>
            </a:r>
          </a:p>
          <a:p>
            <a:r>
              <a:t>instead of hunting through every screen.</a:t>
            </a:r>
          </a:p>
          <a:p/>
          <a:p>
            <a:r>
              <a:t>The bottom layer just stores and returns — MySQL for records, file storage for permits</a:t>
            </a:r>
          </a:p>
          <a:p>
            <a:r>
              <a:t>and invoices.</a:t>
            </a:r>
          </a:p>
          <a:p/>
          <a:p>
            <a:r>
              <a:t>Notice the dashed box on the right: external services. Maps, payment gateway, email. We</a:t>
            </a:r>
          </a:p>
          <a:p>
            <a:r>
              <a:t>use them, we don't build them, and drawing them dashed and outside says exactly that.</a:t>
            </a:r>
          </a:p>
          <a:p/>
          <a:p>
            <a:r>
              <a:t>On the right is the hardware. Nobody installs anything — a browser is enough. Application</a:t>
            </a:r>
          </a:p>
          <a:p>
            <a:r>
              <a:t>server and database server are separate, connected over a local network, with encrypted</a:t>
            </a:r>
          </a:p>
          <a:p>
            <a:r>
              <a:t>daily backups kept for thirty days. Both sit in an Australian region, because NFR15</a:t>
            </a:r>
          </a:p>
          <a:p>
            <a:r>
              <a:t>requires customer data to stay in Australia."</a:t>
            </a:r>
          </a:p>
          <a:p/>
          <a:p>
            <a:r>
              <a:t>IF ASKED — 'why separate the database server?'</a:t>
            </a:r>
          </a:p>
          <a:p>
            <a:r>
              <a:t>Each can be sized and backed up independently. They stay in the same region though; a</a:t>
            </a:r>
          </a:p>
          <a:p>
            <a:r>
              <a:t>cross-region hop would put the 3-second page load in NFR1 at risk.</a:t>
            </a:r>
          </a:p>
          <a:p/>
          <a:p>
            <a:r>
              <a:t>IF ASKED — 'why file storage separate from the database?'</a:t>
            </a:r>
          </a:p>
          <a:p>
            <a:r>
              <a:t>Permits and invoices are documents, not rows. Keeping them as files keeps the database</a:t>
            </a:r>
          </a:p>
          <a:p>
            <a:r>
              <a:t>small and backups fast.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5.1 — UI DESIGN   (about 40 seconds)</a:t>
            </a:r>
          </a:p>
          <a:p/>
          <a:p>
            <a:r>
              <a:t>"This is the landing page — the first thing a business customer sees, before any login.</a:t>
            </a:r>
          </a:p>
          <a:p/>
          <a:p>
            <a:r>
              <a:t>Three deliberate decisions.</a:t>
            </a:r>
          </a:p>
          <a:p/>
          <a:p>
            <a:r>
              <a:t>First, there is one primary action. 'Request a pickup' is the emphasised button; 'How it</a:t>
            </a:r>
          </a:p>
          <a:p>
            <a:r>
              <a:t>works' sits beside it as the quieter option. That's not decoration. UI Requirement 1 says</a:t>
            </a:r>
          </a:p>
          <a:p>
            <a:r>
              <a:t>the user should always know what to do next, and the fastest way to say that is to make</a:t>
            </a:r>
          </a:p>
          <a:p>
            <a:r>
              <a:t>one thing obviously the thing.</a:t>
            </a:r>
          </a:p>
          <a:p/>
          <a:p>
            <a:r>
              <a:t>Second, the regions are fixed. Navigation across the top, hero, content blocks, footer.</a:t>
            </a:r>
          </a:p>
          <a:p>
            <a:r>
              <a:t>Those same regions appear in the same place across all ten of my wireframes, which is UI</a:t>
            </a:r>
          </a:p>
          <a:p>
            <a:r>
              <a:t>Requirement 2 — information and error messages always surface in one predictable spot.</a:t>
            </a:r>
          </a:p>
          <a:p/>
          <a:p>
            <a:r>
              <a:t>Third, nothing role-specific appears here at all. Only Log in and Sign up. What you see</a:t>
            </a:r>
          </a:p>
          <a:p>
            <a:r>
              <a:t>afterwards depends on whether you're a Customer, Staff, Driver or Admin — that's FR3 and</a:t>
            </a:r>
          </a:p>
          <a:p>
            <a:r>
              <a:t>FR4 doing their job.</a:t>
            </a:r>
          </a:p>
          <a:p/>
          <a:p>
            <a:r>
              <a:t>Down the page I answer the obvious questions before the customer has to ask: how it works</a:t>
            </a:r>
          </a:p>
          <a:p>
            <a:r>
              <a:t>in three steps, the four waste categories with their bin sizes, and why BINCOL rather than</a:t>
            </a:r>
          </a:p>
          <a:p>
            <a:r>
              <a:t>a competitor. Then one last call to action at the bottom for anyone who scrolled.</a:t>
            </a:r>
          </a:p>
          <a:p/>
          <a:p>
            <a:r>
              <a:t>It's wireframed in Balsamiq Cloud, so it's deliberately grey — a wireframe fixes layout</a:t>
            </a:r>
          </a:p>
          <a:p>
            <a:r>
              <a:t>and flow, not colour."</a:t>
            </a:r>
          </a:p>
          <a:p/>
          <a:p>
            <a:r>
              <a:t>IF ASKED — 'why no residential sign-up?'</a:t>
            </a:r>
          </a:p>
          <a:p>
            <a:r>
              <a:t>Scope is commercial customers only. FR1 requires an ABN at registration, so there is no</a:t>
            </a:r>
          </a:p>
          <a:p>
            <a:r>
              <a:t>ABN-less path by design.</a:t>
            </a:r>
          </a:p>
          <a:p/>
          <a:p>
            <a:r>
              <a:t>IF ASKED — 'is this the final look?'</a:t>
            </a:r>
          </a:p>
          <a:p>
            <a:r>
              <a:t>No. Grey on purpose, so reviewers comment on the structure rather than the colours.</a:t>
            </a:r>
          </a:p>
          <a:p/>
          <a:p>
            <a:r>
              <a:t>IF ASKED — 'why show hazardous waste on a public page?'</a:t>
            </a:r>
          </a:p>
          <a:p>
            <a:r>
              <a:t>Industrial is listed as special-bins-only, which sets expectations before booking and</a:t>
            </a:r>
          </a:p>
          <a:p>
            <a:r>
              <a:t>supports the compatibility rule in FR16.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6.0 — USE CASE DIAGRAM   (about 40 seconds)</a:t>
            </a:r>
          </a:p>
          <a:p/>
          <a:p>
            <a:r>
              <a:t>"A use case diagram answers one question: who is allowed to do what.</a:t>
            </a:r>
          </a:p>
          <a:p/>
          <a:p>
            <a:r>
              <a:t>The table lists our actors. Four types of people — Customer, Waste Company Staff, Driver</a:t>
            </a:r>
          </a:p>
          <a:p>
            <a:r>
              <a:t>and Administrator. Those are the four roles named in FR4, so the requirement and the</a:t>
            </a:r>
          </a:p>
          <a:p>
            <a:r>
              <a:t>diagram agree. Then three outside systems: payment gateway, email, and the map and routing</a:t>
            </a:r>
          </a:p>
          <a:p>
            <a:r>
              <a:t>API. They're listed as external actors because the system depends on them but does not</a:t>
            </a:r>
          </a:p>
          <a:p>
            <a:r>
              <a:t>control them. If Stripe goes down, that isn't a bug in our code — it's a dependency, and</a:t>
            </a:r>
          </a:p>
          <a:p>
            <a:r>
              <a:t>naming it as an external actor makes that visible.</a:t>
            </a:r>
          </a:p>
          <a:p/>
          <a:p>
            <a:r>
              <a:t>The diagram on the left is Figure 6.3, the pickup and scheduling module — my module. The</a:t>
            </a:r>
          </a:p>
          <a:p>
            <a:r>
              <a:t>customer can select waste category and bin size, request a one-time pickup, schedule a</a:t>
            </a:r>
          </a:p>
          <a:p>
            <a:r>
              <a:t>recurring one, cancel or modify, and track status. Staff review and approve, or reschedule.</a:t>
            </a:r>
          </a:p>
          <a:p/>
          <a:p>
            <a:r>
              <a:t>The two dashed arrows are the interesting part. They're marked include, which means the</a:t>
            </a:r>
          </a:p>
          <a:p>
            <a:r>
              <a:t>step always runs. Every booking — one-time or recurring — runs View Estimated Cost, so a</a:t>
            </a:r>
          </a:p>
          <a:p>
            <a:r>
              <a:t>customer never confirms blind. That's FR21. And every staff approval runs Check Truck and</a:t>
            </a:r>
          </a:p>
          <a:p>
            <a:r>
              <a:t>Driver Availability, which is how FR26 and FR30 stop a truck being double-booked.</a:t>
            </a:r>
          </a:p>
          <a:p/>
          <a:p>
            <a:r>
              <a:t>Include means always. Extend, which we use elsewhere, means optional — exporting a report</a:t>
            </a:r>
          </a:p>
          <a:p>
            <a:r>
              <a:t>to PDF is an extend, because the report is already complete without it."</a:t>
            </a:r>
          </a:p>
          <a:p/>
          <a:p>
            <a:r>
              <a:t>IF ASKED — 'why is Track Request Status not an include?'</a:t>
            </a:r>
          </a:p>
          <a:p>
            <a:r>
              <a:t>It's a separate thing the customer chooses to do afterwards, not a step inside booking.</a:t>
            </a:r>
          </a:p>
          <a:p/>
          <a:p>
            <a:r>
              <a:t>IF ASKED — 'why five diagrams instead of one?'</a:t>
            </a:r>
          </a:p>
          <a:p>
            <a:r>
              <a:t>Eleven modules on one page is unreadable, and an unreadable diagram is a useless diagram.</a:t>
            </a:r>
          </a:p>
          <a:p>
            <a:r>
              <a:t>Section 6.2 gives the overall picture; 6.3 to 6.6 break it down by the kind of work.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8.2 — DFD LEVEL 2   (about 40 seconds)</a:t>
            </a:r>
          </a:p>
          <a:p/>
          <a:p>
            <a:r>
              <a:t>"A data flow diagram answers a different question from the use case diagram — not who does</a:t>
            </a:r>
          </a:p>
          <a:p>
            <a:r>
              <a:t>what, but where the data actually goes.</a:t>
            </a:r>
          </a:p>
          <a:p/>
          <a:p>
            <a:r>
              <a:t>On our Level 1 diagram, all of pickup requests and scheduling is a single box numbered 2.0.</a:t>
            </a:r>
          </a:p>
          <a:p>
            <a:r>
              <a:t>That's too coarse to build from, so Level 2 opens that one box into six steps.</a:t>
            </a:r>
          </a:p>
          <a:p/>
          <a:p>
            <a:r>
              <a:t>2.1 creates the pickup request. 2.2 handles recurring schedules. 2.3 calculates the</a:t>
            </a:r>
          </a:p>
          <a:p>
            <a:r>
              <a:t>estimated cost and sends it straight back to the customer — that's the Estimated Cost</a:t>
            </a:r>
          </a:p>
          <a:p>
            <a:r>
              <a:t>arrow returning on the left. 2.4 is where staff review and approve. 2.5 is modify or</a:t>
            </a:r>
          </a:p>
          <a:p>
            <a:r>
              <a:t>cancel. 2.6 tracks status.</a:t>
            </a:r>
          </a:p>
          <a:p/>
          <a:p>
            <a:r>
              <a:t>Everything reads from and writes to D2, Pickup Request Data. It appears several times on</a:t>
            </a:r>
          </a:p>
          <a:p>
            <a:r>
              <a:t>the diagram, but it's one store — repeating it just keeps the arrows from crossing.</a:t>
            </a:r>
          </a:p>
          <a:p/>
          <a:p>
            <a:r>
              <a:t>Two things leave this process. Approved requests go to 3.0, Service Assignment and Route</a:t>
            </a:r>
          </a:p>
          <a:p>
            <a:r>
              <a:t>Management. Status and approval updates go to 5.0, Notifications and Communication.</a:t>
            </a:r>
          </a:p>
          <a:p/>
          <a:p>
            <a:r>
              <a:t>The discipline that matters here is balancing. Every arrow crossing into or out of box 2.0</a:t>
            </a:r>
          </a:p>
          <a:p>
            <a:r>
              <a:t>on the Level 1 diagram has to appear on this diagram too. If Level 1 shows a flow that</a:t>
            </a:r>
          </a:p>
          <a:p>
            <a:r>
              <a:t>Level 2 doesn't, the diagram leaks — data goes in and vanishes. Ours agrees in both</a:t>
            </a:r>
          </a:p>
          <a:p>
            <a:r>
              <a:t>directions."</a:t>
            </a:r>
          </a:p>
          <a:p/>
          <a:p>
            <a:r>
              <a:t>IF ASKED — 'why does D2 appear five times?'</a:t>
            </a:r>
          </a:p>
          <a:p>
            <a:r>
              <a:t>It is one data store. Repeating the symbol is standard practice to avoid a tangle of long</a:t>
            </a:r>
          </a:p>
          <a:p>
            <a:r>
              <a:t>crossing arrows — the D2 label is what tells you it's the same store.</a:t>
            </a:r>
          </a:p>
          <a:p/>
          <a:p>
            <a:r>
              <a:t>IF ASKED — 'why is cost calculated in 2.3 and not inside 2.1?'</a:t>
            </a:r>
          </a:p>
          <a:p>
            <a:r>
              <a:t>So capture and pricing stay separate. 2.1 records what the customer wants; 2.3 prices it</a:t>
            </a:r>
          </a:p>
          <a:p>
            <a:r>
              <a:t>and returns the estimate before anything is confirmed. That's FR21.</a:t>
            </a:r>
          </a:p>
          <a:p/>
          <a:p>
            <a:r>
              <a:t>IF ASKED — 'where does 1.0 come in?'</a:t>
            </a:r>
          </a:p>
          <a:p>
            <a:r>
              <a:t>Customer and business information flows in from 1.0, Manage User &amp; Business Information —</a:t>
            </a:r>
          </a:p>
          <a:p>
            <a:r>
              <a:t>a request has to belong to a verified business account.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4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" y="402336"/>
            <a:ext cx="786384" cy="219456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452628"/>
            <a:ext cx="7863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2628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6B7B"/>
                </a:solidFill>
                <a:latin typeface="Inter Bold"/>
              </a:rPr>
              <a:t>SRS SECTION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76656"/>
            <a:ext cx="81564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Inter Bold"/>
              </a:rPr>
              <a:t>Software &amp; Hardware Architecture</a:t>
            </a:r>
          </a:p>
        </p:txBody>
      </p:sp>
      <p:pic>
        <p:nvPicPr>
          <p:cNvPr id="6" name="Picture 5" descr="fig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125" y="1097280"/>
            <a:ext cx="2581220" cy="20848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9125" y="3236975"/>
            <a:ext cx="25812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B6B7B"/>
                </a:solidFill>
                <a:latin typeface="Inter"/>
              </a:rPr>
              <a:t>Figure 4.1 — Software architecture</a:t>
            </a:r>
          </a:p>
        </p:txBody>
      </p:sp>
      <p:pic>
        <p:nvPicPr>
          <p:cNvPr id="8" name="Picture 7" descr="fig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1154988"/>
            <a:ext cx="3931920" cy="19694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18304" y="3179267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B6B7B"/>
                </a:solidFill>
                <a:latin typeface="Inter"/>
              </a:rPr>
              <a:t>Figure 4.2 — Hardware architecture</a:t>
            </a:r>
          </a:p>
        </p:txBody>
      </p:sp>
      <p:sp>
        <p:nvSpPr>
          <p:cNvPr id="10" name="Oval 9"/>
          <p:cNvSpPr/>
          <p:nvPr/>
        </p:nvSpPr>
        <p:spPr>
          <a:xfrm>
            <a:off x="493776" y="3639312"/>
            <a:ext cx="73152" cy="73152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3584448"/>
            <a:ext cx="24871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Inter Bold"/>
              </a:rPr>
              <a:t>Presentation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776472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72525"/>
                </a:solidFill>
                <a:latin typeface="Inter"/>
              </a:rPr>
              <a:t>What the user sees. Bootstrap 5, so the same site works on a driver's phone and an office desktop. NFR9, NFR10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3639312"/>
            <a:ext cx="73152" cy="73152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3584448"/>
            <a:ext cx="24871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Inter Bold"/>
              </a:rPr>
              <a:t>Application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3776472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72525"/>
                </a:solidFill>
                <a:latin typeface="Inter"/>
              </a:rPr>
              <a:t>Where every rule lives, once — cost estimate, hazardous-waste block, double-booking check. Laravel MVC. NFR11</a:t>
            </a:r>
          </a:p>
        </p:txBody>
      </p:sp>
      <p:sp>
        <p:nvSpPr>
          <p:cNvPr id="16" name="Oval 15"/>
          <p:cNvSpPr/>
          <p:nvPr/>
        </p:nvSpPr>
        <p:spPr>
          <a:xfrm>
            <a:off x="6089904" y="3639312"/>
            <a:ext cx="73152" cy="73152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3584448"/>
            <a:ext cx="24871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Inter Bold"/>
              </a:rPr>
              <a:t>Data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776472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72525"/>
                </a:solidFill>
                <a:latin typeface="Inter"/>
              </a:rPr>
              <a:t>MySQL for records, permits and invoices as files, encrypted daily backups kept 30 days. NFR5, NFR13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4517136"/>
            <a:ext cx="8156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6B7B"/>
                </a:solidFill>
                <a:latin typeface="Inter"/>
              </a:rPr>
              <a:t>Hardware: application server 4 vCPU / 8 GB and database server 2 vCPU / 8 GB, both in an Australian region so customer data stays in Australia (NFR15). Maps, card payments and email are used, not built — three services we depend on but do not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" y="402336"/>
            <a:ext cx="786384" cy="219456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452628"/>
            <a:ext cx="7863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2628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6B7B"/>
                </a:solidFill>
                <a:latin typeface="Inter Bold"/>
              </a:rPr>
              <a:t>SRS SECTION 5.1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76656"/>
            <a:ext cx="81564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Inter Bold"/>
              </a:rPr>
              <a:t>User Interface Design — Landing Page</a:t>
            </a:r>
          </a:p>
        </p:txBody>
      </p:sp>
      <p:pic>
        <p:nvPicPr>
          <p:cNvPr id="6" name="Picture 5" descr="wf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5" y="1152144"/>
            <a:ext cx="274828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11880" y="1188720"/>
            <a:ext cx="50383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Inter Bold"/>
              </a:rPr>
              <a:t>Why the screen is laid out this way</a:t>
            </a:r>
          </a:p>
        </p:txBody>
      </p:sp>
      <p:sp>
        <p:nvSpPr>
          <p:cNvPr id="8" name="Oval 7"/>
          <p:cNvSpPr/>
          <p:nvPr/>
        </p:nvSpPr>
        <p:spPr>
          <a:xfrm>
            <a:off x="3611880" y="1490472"/>
            <a:ext cx="64008" cy="64008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58184" y="1444752"/>
            <a:ext cx="4892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Inter Bold"/>
              </a:rPr>
              <a:t>One primary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8184" y="15956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72525"/>
                </a:solidFill>
                <a:latin typeface="Inter"/>
              </a:rPr>
              <a:t>"Request a pickup" is the only emphasised button above the fold, so a visitor is never unsure what to do next. UI Requirement 1</a:t>
            </a:r>
          </a:p>
        </p:txBody>
      </p:sp>
      <p:sp>
        <p:nvSpPr>
          <p:cNvPr id="11" name="Oval 10"/>
          <p:cNvSpPr/>
          <p:nvPr/>
        </p:nvSpPr>
        <p:spPr>
          <a:xfrm>
            <a:off x="3611880" y="2102205"/>
            <a:ext cx="64008" cy="64008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8184" y="2056485"/>
            <a:ext cx="4892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Inter Bold"/>
              </a:rPr>
              <a:t>Fixed information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2207361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72525"/>
                </a:solidFill>
                <a:latin typeface="Inter"/>
              </a:rPr>
              <a:t>Navigation, hero, content blocks and footer sit in the same place on every screen in the set, so messages and errors always appear where the user expects them. UI Requirement 2</a:t>
            </a:r>
          </a:p>
        </p:txBody>
      </p:sp>
      <p:sp>
        <p:nvSpPr>
          <p:cNvPr id="14" name="Oval 13"/>
          <p:cNvSpPr/>
          <p:nvPr/>
        </p:nvSpPr>
        <p:spPr>
          <a:xfrm>
            <a:off x="3611880" y="2713939"/>
            <a:ext cx="64008" cy="64008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2668219"/>
            <a:ext cx="4892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Inter Bold"/>
              </a:rPr>
              <a:t>Public before private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2819095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72525"/>
                </a:solidFill>
                <a:latin typeface="Inter"/>
              </a:rPr>
              <a:t>Only Log in and Sign up appear here. Which dashboard you land on afterwards is decided by your role — Customer, Staff, Driver or Admin. FR3, FR4</a:t>
            </a:r>
          </a:p>
        </p:txBody>
      </p:sp>
      <p:sp>
        <p:nvSpPr>
          <p:cNvPr id="17" name="Oval 16"/>
          <p:cNvSpPr/>
          <p:nvPr/>
        </p:nvSpPr>
        <p:spPr>
          <a:xfrm>
            <a:off x="3611880" y="3325672"/>
            <a:ext cx="64008" cy="64008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8184" y="3279952"/>
            <a:ext cx="4892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Inter Bold"/>
              </a:rPr>
              <a:t>It answers the question before it is asked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4" y="3430828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72525"/>
                </a:solidFill>
                <a:latin typeface="Inter"/>
              </a:rPr>
              <a:t>"How it works" in three steps, the four waste categories with their bin sizes, and the reasons to choose BINCOL — all before any sign-up.</a:t>
            </a:r>
          </a:p>
        </p:txBody>
      </p:sp>
      <p:sp>
        <p:nvSpPr>
          <p:cNvPr id="20" name="Oval 19"/>
          <p:cNvSpPr/>
          <p:nvPr/>
        </p:nvSpPr>
        <p:spPr>
          <a:xfrm>
            <a:off x="3611880" y="3937406"/>
            <a:ext cx="64008" cy="64008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58184" y="3891686"/>
            <a:ext cx="4892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Inter Bold"/>
              </a:rPr>
              <a:t>Built to flex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58184" y="404256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72525"/>
                </a:solidFill>
                <a:latin typeface="Inter"/>
              </a:rPr>
              <a:t>Twelve-column grid reflows to tablet and phone; contrast and focus order meet WCAG 2.1 AA. NFR9, NFR10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4809744"/>
            <a:ext cx="8156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6B7B"/>
                </a:solidFill>
                <a:latin typeface="Inter"/>
              </a:rPr>
              <a:t>Wireframed in Balsamiq Cloud — one of ten screens in my set, WF01–WF10.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" y="402336"/>
            <a:ext cx="786384" cy="219456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452628"/>
            <a:ext cx="7863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2628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6B7B"/>
                </a:solidFill>
                <a:latin typeface="Inter Bold"/>
              </a:rPr>
              <a:t>SRS SECTION 6.0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76656"/>
            <a:ext cx="81564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Inter Bold"/>
              </a:rPr>
              <a:t>Requirement Analysis — Use Case Diagram</a:t>
            </a:r>
          </a:p>
        </p:txBody>
      </p:sp>
      <p:pic>
        <p:nvPicPr>
          <p:cNvPr id="6" name="Picture 5" descr="fig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66" y="1152144"/>
            <a:ext cx="3155938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8866" y="4224527"/>
            <a:ext cx="315593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B6B7B"/>
                </a:solidFill>
                <a:latin typeface="Inter"/>
              </a:rPr>
              <a:t>Figure 6.3 — Pickup request and scheduling</a:t>
            </a:r>
          </a:p>
        </p:txBody>
      </p:sp>
      <p:pic>
        <p:nvPicPr>
          <p:cNvPr id="8" name="Picture 7" descr="a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637" y="1280160"/>
            <a:ext cx="2716588" cy="1481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55637" y="2816352"/>
            <a:ext cx="271658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6B6B7B"/>
                </a:solidFill>
                <a:latin typeface="Inter"/>
              </a:rPr>
              <a:t>Table 6.1 — Actors in the BCWCS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3017520"/>
            <a:ext cx="46725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Inter Bold"/>
              </a:rPr>
              <a:t>Who is allowed to do what</a:t>
            </a:r>
          </a:p>
        </p:txBody>
      </p:sp>
      <p:sp>
        <p:nvSpPr>
          <p:cNvPr id="11" name="Oval 10"/>
          <p:cNvSpPr/>
          <p:nvPr/>
        </p:nvSpPr>
        <p:spPr>
          <a:xfrm>
            <a:off x="3977639" y="3319272"/>
            <a:ext cx="64008" cy="64008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3944" y="3273552"/>
            <a:ext cx="4526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Inter Bold"/>
              </a:rPr>
              <a:t>Four human actors, three external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4" y="342442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72525"/>
                </a:solidFill>
                <a:latin typeface="Inter"/>
              </a:rPr>
              <a:t>The external ones sit outside the boundary: we depend on them, we do not control them. Eleven modules on one page would be unreadable, so Section 6.0 gives an overview plus four diagrams by module.</a:t>
            </a:r>
          </a:p>
        </p:txBody>
      </p:sp>
      <p:sp>
        <p:nvSpPr>
          <p:cNvPr id="14" name="Oval 13"/>
          <p:cNvSpPr/>
          <p:nvPr/>
        </p:nvSpPr>
        <p:spPr>
          <a:xfrm>
            <a:off x="3977639" y="4061764"/>
            <a:ext cx="64008" cy="64008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23944" y="4016044"/>
            <a:ext cx="4526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Inter Bold"/>
              </a:rPr>
              <a:t>«include» means it always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3944" y="416692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72525"/>
                </a:solidFill>
                <a:latin typeface="Inter"/>
              </a:rPr>
              <a:t>Every one-time and recurring booking runs View Estimated Cost — the customer never confirms blind (FR21). Every staff approval runs Check Truck and Driver Availability, which is how FR26 and FR30 stop a double-booking.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3776" y="402336"/>
            <a:ext cx="786384" cy="219456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452628"/>
            <a:ext cx="7863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2628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6B7B"/>
                </a:solidFill>
                <a:latin typeface="Inter Bold"/>
              </a:rPr>
              <a:t>SRS SECTION 8.2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76656"/>
            <a:ext cx="81564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00000"/>
                </a:solidFill>
                <a:latin typeface="Inter Bold"/>
              </a:rPr>
              <a:t>DFD Level 2 — Manage Pickup Requests &amp; Scheduling</a:t>
            </a:r>
          </a:p>
        </p:txBody>
      </p:sp>
      <p:pic>
        <p:nvPicPr>
          <p:cNvPr id="6" name="Picture 5" descr="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50" y="1133856"/>
            <a:ext cx="5166571" cy="35295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55664" y="117043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Inter Bold"/>
              </a:rPr>
              <a:t>Where the data goes</a:t>
            </a:r>
          </a:p>
        </p:txBody>
      </p:sp>
      <p:sp>
        <p:nvSpPr>
          <p:cNvPr id="8" name="Oval 7"/>
          <p:cNvSpPr/>
          <p:nvPr/>
        </p:nvSpPr>
        <p:spPr>
          <a:xfrm>
            <a:off x="6455664" y="1472184"/>
            <a:ext cx="64008" cy="64008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426464"/>
            <a:ext cx="204825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00000"/>
                </a:solidFill>
                <a:latin typeface="Inter Bold"/>
              </a:rPr>
              <a:t>2.0 opened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577340"/>
            <a:ext cx="2048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72525"/>
                </a:solidFill>
                <a:latin typeface="Inter"/>
              </a:rPr>
              <a:t>One box on the Level 1 diagram, exploded into six sub-processes, 2.1 to 2.6</a:t>
            </a:r>
          </a:p>
        </p:txBody>
      </p:sp>
      <p:sp>
        <p:nvSpPr>
          <p:cNvPr id="11" name="Oval 10"/>
          <p:cNvSpPr/>
          <p:nvPr/>
        </p:nvSpPr>
        <p:spPr>
          <a:xfrm>
            <a:off x="6455664" y="2205532"/>
            <a:ext cx="64008" cy="64008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159812"/>
            <a:ext cx="204825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00000"/>
                </a:solidFill>
                <a:latin typeface="Inter Bold"/>
              </a:rPr>
              <a:t>The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310688"/>
            <a:ext cx="2048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72525"/>
                </a:solidFill>
                <a:latin typeface="Inter"/>
              </a:rPr>
              <a:t>Create the request, schedule recurring, price it, staff approve, modify or cancel, then track status</a:t>
            </a:r>
          </a:p>
        </p:txBody>
      </p:sp>
      <p:sp>
        <p:nvSpPr>
          <p:cNvPr id="14" name="Oval 13"/>
          <p:cNvSpPr/>
          <p:nvPr/>
        </p:nvSpPr>
        <p:spPr>
          <a:xfrm>
            <a:off x="6455664" y="3060496"/>
            <a:ext cx="64008" cy="64008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3014776"/>
            <a:ext cx="204825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00000"/>
                </a:solidFill>
                <a:latin typeface="Inter Bold"/>
              </a:rPr>
              <a:t>One data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165652"/>
            <a:ext cx="2048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72525"/>
                </a:solidFill>
                <a:latin typeface="Inter"/>
              </a:rPr>
              <a:t>D2 Pickup Request Data — written to and read back at every stage</a:t>
            </a:r>
          </a:p>
        </p:txBody>
      </p:sp>
      <p:sp>
        <p:nvSpPr>
          <p:cNvPr id="17" name="Oval 16"/>
          <p:cNvSpPr/>
          <p:nvPr/>
        </p:nvSpPr>
        <p:spPr>
          <a:xfrm>
            <a:off x="6455664" y="3672230"/>
            <a:ext cx="64008" cy="64008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3626510"/>
            <a:ext cx="204825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00000"/>
                </a:solidFill>
                <a:latin typeface="Inter Bold"/>
              </a:rPr>
              <a:t>It balances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777386"/>
            <a:ext cx="2048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72525"/>
                </a:solidFill>
                <a:latin typeface="Inter"/>
              </a:rPr>
              <a:t>Every arrow crossing into or out of 2.0 on Level 1 appears here too — nothing enters and disappears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4791456"/>
            <a:ext cx="8156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B6B7B"/>
                </a:solidFill>
                <a:latin typeface="Inter"/>
              </a:rPr>
              <a:t>Feeds 3.0 Service Assignment &amp; Route Management with approved requests, and 5.0 Notifications &amp; Communication with approval and status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PresentationFormat>On-screen Show (16:9)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imrrankhaan12@gmail.com</cp:lastModifiedBy>
  <cp:revision>2</cp:revision>
  <dcterms:created xsi:type="dcterms:W3CDTF">2026-08-14T17:34:31Z</dcterms:created>
  <dcterms:modified xsi:type="dcterms:W3CDTF">2026-08-14T17:35:32Z</dcterms:modified>
</cp:coreProperties>
</file>
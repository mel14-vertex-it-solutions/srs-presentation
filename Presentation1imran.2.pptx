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7" r:id="rId2"/>
    <p:sldId id="258" r:id="rId3"/>
    <p:sldId id="259" r:id="rId4"/>
    <p:sldId id="260" r:id="rId5"/>
    <p:sldId id="261" r:id="rId6"/>
    <p:sldId id="264" r:id="rId7"/>
    <p:sldId id="268" r:id="rId8"/>
    <p:sldId id="269" r:id="rId9"/>
    <p:sldId id="272" r:id="rId10"/>
    <p:sldId id="266" r:id="rId11"/>
    <p:sldId id="267" r:id="rId12"/>
    <p:sldId id="273" r:id="rId13"/>
    <p:sldId id="274" r:id="rId14"/>
    <p:sldId id="303" r:id="rId15"/>
    <p:sldId id="302" r:id="rId16"/>
    <p:sldId id="301" r:id="rId17"/>
    <p:sldId id="304" r:id="rId18"/>
    <p:sldId id="305" r:id="rId19"/>
    <p:sldId id="307" r:id="rId20"/>
    <p:sldId id="310" r:id="rId21"/>
    <p:sldId id="311" r:id="rId22"/>
    <p:sldId id="312" r:id="rId23"/>
    <p:sldId id="309" r:id="rId24"/>
    <p:sldId id="308" r:id="rId25"/>
    <p:sldId id="306" r:id="rId26"/>
    <p:sldId id="313" r:id="rId27"/>
    <p:sldId id="256" r:id="rId28"/>
    <p:sldId id="275" r:id="rId29"/>
    <p:sldId id="276" r:id="rId30"/>
    <p:sldId id="277" r:id="rId31"/>
    <p:sldId id="278" r:id="rId32"/>
    <p:sldId id="279" r:id="rId33"/>
    <p:sldId id="265" r:id="rId34"/>
    <p:sldId id="280" r:id="rId35"/>
    <p:sldId id="281" r:id="rId36"/>
    <p:sldId id="282" r:id="rId37"/>
    <p:sldId id="283" r:id="rId38"/>
    <p:sldId id="284" r:id="rId39"/>
    <p:sldId id="285" r:id="rId40"/>
    <p:sldId id="262" r:id="rId41"/>
    <p:sldId id="286" r:id="rId42"/>
    <p:sldId id="296" r:id="rId43"/>
    <p:sldId id="297" r:id="rId44"/>
    <p:sldId id="298" r:id="rId45"/>
    <p:sldId id="300" r:id="rId46"/>
    <p:sldId id="299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100" d="100"/>
          <a:sy n="100" d="100"/>
        </p:scale>
        <p:origin x="-355" y="-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99442A-0851-4DA3-8E49-D62C69B14288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B6180-1D8D-49B4-BC0A-E2FB134B79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603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6.0 — USE CASE DIAGRAM   (about 40 seconds)</a:t>
            </a:r>
          </a:p>
          <a:p>
            <a:endParaRPr/>
          </a:p>
          <a:p>
            <a:r>
              <a:t>"A use case diagram answers one question: who is allowed to do what.</a:t>
            </a:r>
          </a:p>
          <a:p>
            <a:endParaRPr/>
          </a:p>
          <a:p>
            <a:r>
              <a:t>The table lists our actors. Four types of people — Customer, Waste Company Staff, Driver</a:t>
            </a:r>
          </a:p>
          <a:p>
            <a:r>
              <a:t>and Administrator. Those are the four roles named in FR4, so the requirement and the</a:t>
            </a:r>
          </a:p>
          <a:p>
            <a:r>
              <a:t>diagram agree. Then three outside systems: payment gateway, email, and the map and routing</a:t>
            </a:r>
          </a:p>
          <a:p>
            <a:r>
              <a:t>API. They're listed as external actors because the system depends on them but does not</a:t>
            </a:r>
          </a:p>
          <a:p>
            <a:r>
              <a:t>control them. If Stripe goes down, that isn't a bug in our code — it's a dependency, and</a:t>
            </a:r>
          </a:p>
          <a:p>
            <a:r>
              <a:t>naming it as an external actor makes that visible.</a:t>
            </a:r>
          </a:p>
          <a:p>
            <a:endParaRPr/>
          </a:p>
          <a:p>
            <a:r>
              <a:t>The diagram on the left is Figure 6.3, the pickup and scheduling module — my module. The</a:t>
            </a:r>
          </a:p>
          <a:p>
            <a:r>
              <a:t>customer can select waste category and bin size, request a one-time pickup, schedule a</a:t>
            </a:r>
          </a:p>
          <a:p>
            <a:r>
              <a:t>recurring one, cancel or modify, and track status. Staff review and approve, or reschedule.</a:t>
            </a:r>
          </a:p>
          <a:p>
            <a:endParaRPr/>
          </a:p>
          <a:p>
            <a:r>
              <a:t>The two dashed arrows are the interesting part. They're marked include, which means the</a:t>
            </a:r>
          </a:p>
          <a:p>
            <a:r>
              <a:t>step always runs. Every booking — one-time or recurring — runs View Estimated Cost, so a</a:t>
            </a:r>
          </a:p>
          <a:p>
            <a:r>
              <a:t>customer never confirms blind. That's FR21. And every staff approval runs Check Truck and</a:t>
            </a:r>
          </a:p>
          <a:p>
            <a:r>
              <a:t>Driver Availability, which is how FR26 and FR30 stop a truck being double-booked.</a:t>
            </a:r>
          </a:p>
          <a:p>
            <a:endParaRPr/>
          </a:p>
          <a:p>
            <a:r>
              <a:t>Include means always. Extend, which we use elsewhere, means optional — exporting a report</a:t>
            </a:r>
          </a:p>
          <a:p>
            <a:r>
              <a:t>to PDF is an extend, because the report is already complete without it."</a:t>
            </a:r>
          </a:p>
          <a:p>
            <a:endParaRPr/>
          </a:p>
          <a:p>
            <a:r>
              <a:t>IF ASKED — 'why is Track Request Status not an include?'</a:t>
            </a:r>
          </a:p>
          <a:p>
            <a:r>
              <a:t>It's a separate thing the customer chooses to do afterwards, not a step inside booking.</a:t>
            </a:r>
          </a:p>
          <a:p>
            <a:endParaRPr/>
          </a:p>
          <a:p>
            <a:r>
              <a:t>IF ASKED — 'why five diagrams instead of one?'</a:t>
            </a:r>
          </a:p>
          <a:p>
            <a:r>
              <a:t>Eleven modules on one page is unreadable, and an unreadable diagram is a useless diagram.</a:t>
            </a:r>
          </a:p>
          <a:p>
            <a:r>
              <a:t>Section 6.2 gives the overall picture; 6.3 to 6.6 break it down by the kind of work.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8.2 — DFD LEVEL 2   (about 40 seconds)</a:t>
            </a:r>
          </a:p>
          <a:p>
            <a:endParaRPr/>
          </a:p>
          <a:p>
            <a:r>
              <a:t>"A data flow diagram answers a different question from the use case diagram — not who does</a:t>
            </a:r>
          </a:p>
          <a:p>
            <a:r>
              <a:t>what, but where the data actually goes.</a:t>
            </a:r>
          </a:p>
          <a:p>
            <a:endParaRPr/>
          </a:p>
          <a:p>
            <a:r>
              <a:t>On our Level 1 diagram, all of pickup requests and scheduling is a single box numbered 2.0.</a:t>
            </a:r>
          </a:p>
          <a:p>
            <a:r>
              <a:t>That's too coarse to build from, so Level 2 opens that one box into six steps.</a:t>
            </a:r>
          </a:p>
          <a:p>
            <a:endParaRPr/>
          </a:p>
          <a:p>
            <a:r>
              <a:t>2.1 creates the pickup request. 2.2 handles recurring schedules. 2.3 calculates the</a:t>
            </a:r>
          </a:p>
          <a:p>
            <a:r>
              <a:t>estimated cost and sends it straight back to the customer — that's the Estimated Cost</a:t>
            </a:r>
          </a:p>
          <a:p>
            <a:r>
              <a:t>arrow returning on the left. 2.4 is where staff review and approve. 2.5 is modify or</a:t>
            </a:r>
          </a:p>
          <a:p>
            <a:r>
              <a:t>cancel. 2.6 tracks status.</a:t>
            </a:r>
          </a:p>
          <a:p>
            <a:endParaRPr/>
          </a:p>
          <a:p>
            <a:r>
              <a:t>Everything reads from and writes to D2, Pickup Request Data. It appears several times on</a:t>
            </a:r>
          </a:p>
          <a:p>
            <a:r>
              <a:t>the diagram, but it's one store — repeating it just keeps the arrows from crossing.</a:t>
            </a:r>
          </a:p>
          <a:p>
            <a:endParaRPr/>
          </a:p>
          <a:p>
            <a:r>
              <a:t>Two things leave this process. Approved requests go to 3.0, Service Assignment and Route</a:t>
            </a:r>
          </a:p>
          <a:p>
            <a:r>
              <a:t>Management. Status and approval updates go to 5.0, Notifications and Communication.</a:t>
            </a:r>
          </a:p>
          <a:p>
            <a:endParaRPr/>
          </a:p>
          <a:p>
            <a:r>
              <a:t>The discipline that matters here is balancing. Every arrow crossing into or out of box 2.0</a:t>
            </a:r>
          </a:p>
          <a:p>
            <a:r>
              <a:t>on the Level 1 diagram has to appear on this diagram too. If Level 1 shows a flow that</a:t>
            </a:r>
          </a:p>
          <a:p>
            <a:r>
              <a:t>Level 2 doesn't, the diagram leaks — data goes in and vanishes. Ours agrees in both</a:t>
            </a:r>
          </a:p>
          <a:p>
            <a:r>
              <a:t>directions."</a:t>
            </a:r>
          </a:p>
          <a:p>
            <a:endParaRPr/>
          </a:p>
          <a:p>
            <a:r>
              <a:t>IF ASKED — 'why does D2 appear five times?'</a:t>
            </a:r>
          </a:p>
          <a:p>
            <a:r>
              <a:t>It is one data store. Repeating the symbol is standard practice to avoid a tangle of long</a:t>
            </a:r>
          </a:p>
          <a:p>
            <a:r>
              <a:t>crossing arrows — the D2 label is what tells you it's the same store.</a:t>
            </a:r>
          </a:p>
          <a:p>
            <a:endParaRPr/>
          </a:p>
          <a:p>
            <a:r>
              <a:t>IF ASKED — 'why is cost calculated in 2.3 and not inside 2.1?'</a:t>
            </a:r>
          </a:p>
          <a:p>
            <a:r>
              <a:t>So capture and pricing stay separate. 2.1 records what the customer wants; 2.3 prices it</a:t>
            </a:r>
          </a:p>
          <a:p>
            <a:r>
              <a:t>and returns the estimate before anything is confirmed. That's FR21.</a:t>
            </a:r>
          </a:p>
          <a:p>
            <a:endParaRPr/>
          </a:p>
          <a:p>
            <a:r>
              <a:t>IF ASKED — 'where does 1.0 come in?'</a:t>
            </a:r>
          </a:p>
          <a:p>
            <a:r>
              <a:t>Customer and business information flows in from 1.0, Manage User &amp; Business Information —</a:t>
            </a:r>
          </a:p>
          <a:p>
            <a:r>
              <a:t>a request has to belong to a verified business account.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F7EFE-2F93-C4B1-B7CE-5978C8C68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6F2AC713-51A3-21D0-A86A-4143FDCED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8.2 — DFD LEVEL 2   (about 40 seconds)</a:t>
            </a:r>
          </a:p>
          <a:p>
            <a:endParaRPr/>
          </a:p>
          <a:p>
            <a:r>
              <a:t>"A data flow diagram answers a different question from the use case diagram — not who does</a:t>
            </a:r>
          </a:p>
          <a:p>
            <a:r>
              <a:t>what, but where the data actually goes.</a:t>
            </a:r>
          </a:p>
          <a:p>
            <a:endParaRPr/>
          </a:p>
          <a:p>
            <a:r>
              <a:t>On our Level 1 diagram, all of pickup requests and scheduling is a single box numbered 2.0.</a:t>
            </a:r>
          </a:p>
          <a:p>
            <a:r>
              <a:t>That's too coarse to build from, so Level 2 opens that one box into six steps.</a:t>
            </a:r>
          </a:p>
          <a:p>
            <a:endParaRPr/>
          </a:p>
          <a:p>
            <a:r>
              <a:t>2.1 creates the pickup request. 2.2 handles recurring schedules. 2.3 calculates the</a:t>
            </a:r>
          </a:p>
          <a:p>
            <a:r>
              <a:t>estimated cost and sends it straight back to the customer — that's the Estimated Cost</a:t>
            </a:r>
          </a:p>
          <a:p>
            <a:r>
              <a:t>arrow returning on the left. 2.4 is where staff review and approve. 2.5 is modify or</a:t>
            </a:r>
          </a:p>
          <a:p>
            <a:r>
              <a:t>cancel. 2.6 tracks status.</a:t>
            </a:r>
          </a:p>
          <a:p>
            <a:endParaRPr/>
          </a:p>
          <a:p>
            <a:r>
              <a:t>Everything reads from and writes to D2, Pickup Request Data. It appears several times on</a:t>
            </a:r>
          </a:p>
          <a:p>
            <a:r>
              <a:t>the diagram, but it's one store — repeating it just keeps the arrows from crossing.</a:t>
            </a:r>
          </a:p>
          <a:p>
            <a:endParaRPr/>
          </a:p>
          <a:p>
            <a:r>
              <a:t>Two things leave this process. Approved requests go to 3.0, Service Assignment and Route</a:t>
            </a:r>
          </a:p>
          <a:p>
            <a:r>
              <a:t>Management. Status and approval updates go to 5.0, Notifications and Communication.</a:t>
            </a:r>
          </a:p>
          <a:p>
            <a:endParaRPr/>
          </a:p>
          <a:p>
            <a:r>
              <a:t>The discipline that matters here is balancing. Every arrow crossing into or out of box 2.0</a:t>
            </a:r>
          </a:p>
          <a:p>
            <a:r>
              <a:t>on the Level 1 diagram has to appear on this diagram too. If Level 1 shows a flow that</a:t>
            </a:r>
          </a:p>
          <a:p>
            <a:r>
              <a:t>Level 2 doesn't, the diagram leaks — data goes in and vanishes. Ours agrees in both</a:t>
            </a:r>
          </a:p>
          <a:p>
            <a:r>
              <a:t>directions."</a:t>
            </a:r>
          </a:p>
          <a:p>
            <a:endParaRPr/>
          </a:p>
          <a:p>
            <a:r>
              <a:t>IF ASKED — 'why does D2 appear five times?'</a:t>
            </a:r>
          </a:p>
          <a:p>
            <a:r>
              <a:t>It is one data store. Repeating the symbol is standard practice to avoid a tangle of long</a:t>
            </a:r>
          </a:p>
          <a:p>
            <a:r>
              <a:t>crossing arrows — the D2 label is what tells you it's the same store.</a:t>
            </a:r>
          </a:p>
          <a:p>
            <a:endParaRPr/>
          </a:p>
          <a:p>
            <a:r>
              <a:t>IF ASKED — 'why is cost calculated in 2.3 and not inside 2.1?'</a:t>
            </a:r>
          </a:p>
          <a:p>
            <a:r>
              <a:t>So capture and pricing stay separate. 2.1 records what the customer wants; 2.3 prices it</a:t>
            </a:r>
          </a:p>
          <a:p>
            <a:r>
              <a:t>and returns the estimate before anything is confirmed. That's FR21.</a:t>
            </a:r>
          </a:p>
          <a:p>
            <a:endParaRPr/>
          </a:p>
          <a:p>
            <a:r>
              <a:t>IF ASKED — 'where does 1.0 come in?'</a:t>
            </a:r>
          </a:p>
          <a:p>
            <a:r>
              <a:t>Customer and business information flows in from 1.0, Manage User &amp; Business Information —</a:t>
            </a:r>
          </a:p>
          <a:p>
            <a:r>
              <a:t>a request has to belong to a verified business account.</a:t>
            </a:r>
          </a:p>
        </p:txBody>
      </p:sp>
    </p:spTree>
    <p:extLst>
      <p:ext uri="{BB962C8B-B14F-4D97-AF65-F5344CB8AC3E}">
        <p14:creationId xmlns:p14="http://schemas.microsoft.com/office/powerpoint/2010/main" val="3945120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4.1 — ARCHITECTURE   (about 35 seconds)</a:t>
            </a:r>
          </a:p>
          <a:p>
            <a:endParaRPr/>
          </a:p>
          <a:p>
            <a:r>
              <a:t>"These two diagrams show how the system is put together.</a:t>
            </a:r>
          </a:p>
          <a:p>
            <a:endParaRPr/>
          </a:p>
          <a:p>
            <a:r>
              <a:t>On the left is the software. Three layers, and each one has a single job. The top layer</a:t>
            </a:r>
          </a:p>
          <a:p>
            <a:r>
              <a:t>is what you see in the browser — customer portal, staff dashboard, driver interface.</a:t>
            </a:r>
          </a:p>
          <a:p>
            <a:r>
              <a:t>Built with Bootstrap 5, so the same site works on a driver's phone and an office desktop.</a:t>
            </a:r>
          </a:p>
          <a:p>
            <a:r>
              <a:t>That's NFR9 and NFR10.</a:t>
            </a:r>
          </a:p>
          <a:p>
            <a:endParaRPr/>
          </a:p>
          <a:p>
            <a:r>
              <a:t>The middle layer is where the thinking happens, and it's built as Model-View-Controller</a:t>
            </a:r>
          </a:p>
          <a:p>
            <a:r>
              <a:t>because NFR11 asks for it. Every business rule lives here once: work out the cost before</a:t>
            </a:r>
          </a:p>
          <a:p>
            <a:r>
              <a:t>the customer confirms, block hazardous waste from a standard bin, stop a truck being</a:t>
            </a:r>
          </a:p>
          <a:p>
            <a:r>
              <a:t>booked twice in the same slot. If BINCOL changes a rule later, we change it in one place</a:t>
            </a:r>
          </a:p>
          <a:p>
            <a:r>
              <a:t>instead of hunting through every screen.</a:t>
            </a:r>
          </a:p>
          <a:p>
            <a:endParaRPr/>
          </a:p>
          <a:p>
            <a:r>
              <a:t>The bottom layer just stores and returns — MySQL for records, file storage for permits</a:t>
            </a:r>
          </a:p>
          <a:p>
            <a:r>
              <a:t>and invoices.</a:t>
            </a:r>
          </a:p>
          <a:p>
            <a:endParaRPr/>
          </a:p>
          <a:p>
            <a:r>
              <a:t>Notice the dashed box on the right: external services. Maps, payment gateway, email. We</a:t>
            </a:r>
          </a:p>
          <a:p>
            <a:r>
              <a:t>use them, we don't build them, and drawing them dashed and outside says exactly that.</a:t>
            </a:r>
          </a:p>
          <a:p>
            <a:endParaRPr/>
          </a:p>
          <a:p>
            <a:r>
              <a:t>On the right is the hardware. Nobody installs anything — a browser is enough. Application</a:t>
            </a:r>
          </a:p>
          <a:p>
            <a:r>
              <a:t>server and database server are separate, connected over a local network, with encrypted</a:t>
            </a:r>
          </a:p>
          <a:p>
            <a:r>
              <a:t>daily backups kept for thirty days. Both sit in an Australian region, because NFR15</a:t>
            </a:r>
          </a:p>
          <a:p>
            <a:r>
              <a:t>requires customer data to stay in Australia."</a:t>
            </a:r>
          </a:p>
          <a:p>
            <a:endParaRPr/>
          </a:p>
          <a:p>
            <a:r>
              <a:t>IF ASKED — 'why separate the database server?'</a:t>
            </a:r>
          </a:p>
          <a:p>
            <a:r>
              <a:t>Each can be sized and backed up independently. They stay in the same region though; a</a:t>
            </a:r>
          </a:p>
          <a:p>
            <a:r>
              <a:t>cross-region hop would put the 3-second page load in NFR1 at risk.</a:t>
            </a:r>
          </a:p>
          <a:p>
            <a:endParaRPr/>
          </a:p>
          <a:p>
            <a:r>
              <a:t>IF ASKED — 'why file storage separate from the database?'</a:t>
            </a:r>
          </a:p>
          <a:p>
            <a:r>
              <a:t>Permits and invoices are documents, not rows. Keeping them as files keeps the database</a:t>
            </a:r>
          </a:p>
          <a:p>
            <a:r>
              <a:t>small and backups fast.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5.1 — UI DESIGN   (about 40 seconds)</a:t>
            </a:r>
          </a:p>
          <a:p>
            <a:endParaRPr/>
          </a:p>
          <a:p>
            <a:r>
              <a:t>"This is the landing page — the first thing a business customer sees, before any login.</a:t>
            </a:r>
          </a:p>
          <a:p>
            <a:endParaRPr/>
          </a:p>
          <a:p>
            <a:r>
              <a:t>Three deliberate decisions.</a:t>
            </a:r>
          </a:p>
          <a:p>
            <a:endParaRPr/>
          </a:p>
          <a:p>
            <a:r>
              <a:t>First, there is one primary action. 'Request a pickup' is the emphasised button; 'How it</a:t>
            </a:r>
          </a:p>
          <a:p>
            <a:r>
              <a:t>works' sits beside it as the quieter option. That's not decoration. UI Requirement 1 says</a:t>
            </a:r>
          </a:p>
          <a:p>
            <a:r>
              <a:t>the user should always know what to do next, and the fastest way to say that is to make</a:t>
            </a:r>
          </a:p>
          <a:p>
            <a:r>
              <a:t>one thing obviously the thing.</a:t>
            </a:r>
          </a:p>
          <a:p>
            <a:endParaRPr/>
          </a:p>
          <a:p>
            <a:r>
              <a:t>Second, the regions are fixed. Navigation across the top, hero, content blocks, footer.</a:t>
            </a:r>
          </a:p>
          <a:p>
            <a:r>
              <a:t>Those same regions appear in the same place across all ten of my wireframes, which is UI</a:t>
            </a:r>
          </a:p>
          <a:p>
            <a:r>
              <a:t>Requirement 2 — information and error messages always surface in one predictable spot.</a:t>
            </a:r>
          </a:p>
          <a:p>
            <a:endParaRPr/>
          </a:p>
          <a:p>
            <a:r>
              <a:t>Third, nothing role-specific appears here at all. Only Log in and Sign up. What you see</a:t>
            </a:r>
          </a:p>
          <a:p>
            <a:r>
              <a:t>afterwards depends on whether you're a Customer, Staff, Driver or Admin — that's FR3 and</a:t>
            </a:r>
          </a:p>
          <a:p>
            <a:r>
              <a:t>FR4 doing their job.</a:t>
            </a:r>
          </a:p>
          <a:p>
            <a:endParaRPr/>
          </a:p>
          <a:p>
            <a:r>
              <a:t>Down the page I answer the obvious questions before the customer has to ask: how it works</a:t>
            </a:r>
          </a:p>
          <a:p>
            <a:r>
              <a:t>in three steps, the four waste categories with their bin sizes, and why BINCOL rather than</a:t>
            </a:r>
          </a:p>
          <a:p>
            <a:r>
              <a:t>a competitor. Then one last call to action at the bottom for anyone who scrolled.</a:t>
            </a:r>
          </a:p>
          <a:p>
            <a:endParaRPr/>
          </a:p>
          <a:p>
            <a:r>
              <a:t>It's wireframed in Balsamiq Cloud, so it's deliberately grey — a wireframe fixes layout</a:t>
            </a:r>
          </a:p>
          <a:p>
            <a:r>
              <a:t>and flow, not colour."</a:t>
            </a:r>
          </a:p>
          <a:p>
            <a:endParaRPr/>
          </a:p>
          <a:p>
            <a:r>
              <a:t>IF ASKED — 'why no residential sign-up?'</a:t>
            </a:r>
          </a:p>
          <a:p>
            <a:r>
              <a:t>Scope is commercial customers only. FR1 requires an ABN at registration, so there is no</a:t>
            </a:r>
          </a:p>
          <a:p>
            <a:r>
              <a:t>ABN-less path by design.</a:t>
            </a:r>
          </a:p>
          <a:p>
            <a:endParaRPr/>
          </a:p>
          <a:p>
            <a:r>
              <a:t>IF ASKED — 'is this the final look?'</a:t>
            </a:r>
          </a:p>
          <a:p>
            <a:r>
              <a:t>No. Grey on purpose, so reviewers comment on the structure rather than the colours.</a:t>
            </a:r>
          </a:p>
          <a:p>
            <a:endParaRPr/>
          </a:p>
          <a:p>
            <a:r>
              <a:t>IF ASKED — 'why show hazardous waste on a public page?'</a:t>
            </a:r>
          </a:p>
          <a:p>
            <a:r>
              <a:t>Industrial is listed as special-bins-only, which sets expectations before booking and</a:t>
            </a:r>
          </a:p>
          <a:p>
            <a:r>
              <a:t>supports the compatibility rule in FR16.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6.0 — USE CASE DIAGRAM   (about 40 seconds)</a:t>
            </a:r>
          </a:p>
          <a:p>
            <a:endParaRPr/>
          </a:p>
          <a:p>
            <a:r>
              <a:t>"A use case diagram answers one question: who is allowed to do what.</a:t>
            </a:r>
          </a:p>
          <a:p>
            <a:endParaRPr/>
          </a:p>
          <a:p>
            <a:r>
              <a:t>The table lists our actors. Four types of people — Customer, Waste Company Staff, Driver</a:t>
            </a:r>
          </a:p>
          <a:p>
            <a:r>
              <a:t>and Administrator. Those are the four roles named in FR4, so the requirement and the</a:t>
            </a:r>
          </a:p>
          <a:p>
            <a:r>
              <a:t>diagram agree. Then three outside systems: payment gateway, email, and the map and routing</a:t>
            </a:r>
          </a:p>
          <a:p>
            <a:r>
              <a:t>API. They're listed as external actors because the system depends on them but does not</a:t>
            </a:r>
          </a:p>
          <a:p>
            <a:r>
              <a:t>control them. If Stripe goes down, that isn't a bug in our code — it's a dependency, and</a:t>
            </a:r>
          </a:p>
          <a:p>
            <a:r>
              <a:t>naming it as an external actor makes that visible.</a:t>
            </a:r>
          </a:p>
          <a:p>
            <a:endParaRPr/>
          </a:p>
          <a:p>
            <a:r>
              <a:t>The diagram on the left is Figure 6.3, the pickup and scheduling module — my module. The</a:t>
            </a:r>
          </a:p>
          <a:p>
            <a:r>
              <a:t>customer can select waste category and bin size, request a one-time pickup, schedule a</a:t>
            </a:r>
          </a:p>
          <a:p>
            <a:r>
              <a:t>recurring one, cancel or modify, and track status. Staff review and approve, or reschedule.</a:t>
            </a:r>
          </a:p>
          <a:p>
            <a:endParaRPr/>
          </a:p>
          <a:p>
            <a:r>
              <a:t>The two dashed arrows are the interesting part. They're marked include, which means the</a:t>
            </a:r>
          </a:p>
          <a:p>
            <a:r>
              <a:t>step always runs. Every booking — one-time or recurring — runs View Estimated Cost, so a</a:t>
            </a:r>
          </a:p>
          <a:p>
            <a:r>
              <a:t>customer never confirms blind. That's FR21. And every staff approval runs Check Truck and</a:t>
            </a:r>
          </a:p>
          <a:p>
            <a:r>
              <a:t>Driver Availability, which is how FR26 and FR30 stop a truck being double-booked.</a:t>
            </a:r>
          </a:p>
          <a:p>
            <a:endParaRPr/>
          </a:p>
          <a:p>
            <a:r>
              <a:t>Include means always. Extend, which we use elsewhere, means optional — exporting a report</a:t>
            </a:r>
          </a:p>
          <a:p>
            <a:r>
              <a:t>to PDF is an extend, because the report is already complete without it."</a:t>
            </a:r>
          </a:p>
          <a:p>
            <a:endParaRPr/>
          </a:p>
          <a:p>
            <a:r>
              <a:t>IF ASKED — 'why is Track Request Status not an include?'</a:t>
            </a:r>
          </a:p>
          <a:p>
            <a:r>
              <a:t>It's a separate thing the customer chooses to do afterwards, not a step inside booking.</a:t>
            </a:r>
          </a:p>
          <a:p>
            <a:endParaRPr/>
          </a:p>
          <a:p>
            <a:r>
              <a:t>IF ASKED — 'why five diagrams instead of one?'</a:t>
            </a:r>
          </a:p>
          <a:p>
            <a:r>
              <a:t>Eleven modules on one page is unreadable, and an unreadable diagram is a useless diagram.</a:t>
            </a:r>
          </a:p>
          <a:p>
            <a:r>
              <a:t>Section 6.2 gives the overall picture; 6.3 to 6.6 break it down by the kind of work.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SECTION 8.2 — DFD LEVEL 2   (about 40 seconds)</a:t>
            </a:r>
          </a:p>
          <a:p>
            <a:endParaRPr/>
          </a:p>
          <a:p>
            <a:r>
              <a:t>"A data flow diagram answers a different question from the use case diagram — not who does</a:t>
            </a:r>
          </a:p>
          <a:p>
            <a:r>
              <a:t>what, but where the data actually goes.</a:t>
            </a:r>
          </a:p>
          <a:p>
            <a:endParaRPr/>
          </a:p>
          <a:p>
            <a:r>
              <a:t>On our Level 1 diagram, all of pickup requests and scheduling is a single box numbered 2.0.</a:t>
            </a:r>
          </a:p>
          <a:p>
            <a:r>
              <a:t>That's too coarse to build from, so Level 2 opens that one box into six steps.</a:t>
            </a:r>
          </a:p>
          <a:p>
            <a:endParaRPr/>
          </a:p>
          <a:p>
            <a:r>
              <a:t>2.1 creates the pickup request. 2.2 handles recurring schedules. 2.3 calculates the</a:t>
            </a:r>
          </a:p>
          <a:p>
            <a:r>
              <a:t>estimated cost and sends it straight back to the customer — that's the Estimated Cost</a:t>
            </a:r>
          </a:p>
          <a:p>
            <a:r>
              <a:t>arrow returning on the left. 2.4 is where staff review and approve. 2.5 is modify or</a:t>
            </a:r>
          </a:p>
          <a:p>
            <a:r>
              <a:t>cancel. 2.6 tracks status.</a:t>
            </a:r>
          </a:p>
          <a:p>
            <a:endParaRPr/>
          </a:p>
          <a:p>
            <a:r>
              <a:t>Everything reads from and writes to D2, Pickup Request Data. It appears several times on</a:t>
            </a:r>
          </a:p>
          <a:p>
            <a:r>
              <a:t>the diagram, but it's one store — repeating it just keeps the arrows from crossing.</a:t>
            </a:r>
          </a:p>
          <a:p>
            <a:endParaRPr/>
          </a:p>
          <a:p>
            <a:r>
              <a:t>Two things leave this process. Approved requests go to 3.0, Service Assignment and Route</a:t>
            </a:r>
          </a:p>
          <a:p>
            <a:r>
              <a:t>Management. Status and approval updates go to 5.0, Notifications and Communication.</a:t>
            </a:r>
          </a:p>
          <a:p>
            <a:endParaRPr/>
          </a:p>
          <a:p>
            <a:r>
              <a:t>The discipline that matters here is balancing. Every arrow crossing into or out of box 2.0</a:t>
            </a:r>
          </a:p>
          <a:p>
            <a:r>
              <a:t>on the Level 1 diagram has to appear on this diagram too. If Level 1 shows a flow that</a:t>
            </a:r>
          </a:p>
          <a:p>
            <a:r>
              <a:t>Level 2 doesn't, the diagram leaks — data goes in and vanishes. Ours agrees in both</a:t>
            </a:r>
          </a:p>
          <a:p>
            <a:r>
              <a:t>directions."</a:t>
            </a:r>
          </a:p>
          <a:p>
            <a:endParaRPr/>
          </a:p>
          <a:p>
            <a:r>
              <a:t>IF ASKED — 'why does D2 appear five times?'</a:t>
            </a:r>
          </a:p>
          <a:p>
            <a:r>
              <a:t>It is one data store. Repeating the symbol is standard practice to avoid a tangle of long</a:t>
            </a:r>
          </a:p>
          <a:p>
            <a:r>
              <a:t>crossing arrows — the D2 label is what tells you it's the same store.</a:t>
            </a:r>
          </a:p>
          <a:p>
            <a:endParaRPr/>
          </a:p>
          <a:p>
            <a:r>
              <a:t>IF ASKED — 'why is cost calculated in 2.3 and not inside 2.1?'</a:t>
            </a:r>
          </a:p>
          <a:p>
            <a:r>
              <a:t>So capture and pricing stay separate. 2.1 records what the customer wants; 2.3 prices it</a:t>
            </a:r>
          </a:p>
          <a:p>
            <a:r>
              <a:t>and returns the estimate before anything is confirmed. That's FR21.</a:t>
            </a:r>
          </a:p>
          <a:p>
            <a:endParaRPr/>
          </a:p>
          <a:p>
            <a:r>
              <a:t>IF ASKED — 'where does 1.0 come in?'</a:t>
            </a:r>
          </a:p>
          <a:p>
            <a:r>
              <a:t>Customer and business information flows in from 1.0, Manage User &amp; Business Information —</a:t>
            </a:r>
          </a:p>
          <a:p>
            <a:r>
              <a:t>a request has to belong to a verified business account.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interfaces allow staff to manage driver and truck records. The system validates driver availability, truck registration and capacity before an assignment is completed.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BINCOL UI Design, DFD Level 2, Development Methodology and System Testing documents.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driver dashboard presents the daily schedule and progress clearly. Drivers receive assignment notifications and can update pickup status without leaving the workflow.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BINCOL UI Design, DFD Level 2, Development Methodology and System Testing documents.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map view combines customer locations with the pickup list. Smart route planning organises confirmed jobs into an efficient sequence and keeps the address list available as a fallback.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BINCOL UI Design, DFD Level 2, Development Methodology and System Testing documents.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Level 2 DFD expands process 3.0 into assignment, capacity checking, record management, route generation, delivery-status update and real-time communication.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BINCOL UI Design, DFD Level 2, Development Methodology and System Testing documents.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Agile Scrum supports controlled delivery across six two-week sprints. Driver and Route Management is delivered in Sprint 4. TC10, TC11 and TC12 verify truck capacity, schedules and status updates, and route optimisation before user acceptance.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BINCOL UI Design, DFD Level 2, Development Methodology and System Testing documents.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DPIA risk table for Payment &amp; Billing.</a:t>
            </a:r>
          </a:p>
          <a:p>
            <a:endParaRPr lang="en-US" dirty="0"/>
          </a:p>
          <a:p>
            <a:r>
              <a:rPr lang="en-US" dirty="0"/>
              <a:t>Opening line: "Because payment data traces back to an identifiable person through this chain — Payments to Invoices to Pickup Requests to Business Customers to Users — this module triggered a DPIA under APP 11."</a:t>
            </a:r>
          </a:p>
          <a:p>
            <a:endParaRPr lang="en-US" dirty="0"/>
          </a:p>
          <a:p>
            <a:r>
              <a:rPr lang="en-US" dirty="0"/>
              <a:t>Walk through each risk top to bottom, same pattern each time: name the risk, say the severity, then the one-line mitigation.</a:t>
            </a:r>
          </a:p>
          <a:p>
            <a:endParaRPr lang="en-US" dirty="0"/>
          </a:p>
          <a:p>
            <a:r>
              <a:rPr lang="en-US" dirty="0"/>
              <a:t>1. Unauthorised access to the payments table (High) — every query is scoped to the authenticated customer or company ID, so one account can never pull another's payment records.</a:t>
            </a:r>
          </a:p>
          <a:p>
            <a:r>
              <a:rPr lang="en-US" dirty="0"/>
              <a:t>2. SQL injection / query-scoping errors (High) — all inputs are parameterised, validated and sanitised, per NFR7.</a:t>
            </a:r>
          </a:p>
          <a:p>
            <a:r>
              <a:rPr lang="en-US" dirty="0"/>
              <a:t>3. Over-fetching by a driver or staff role (Medium) — RBAC is enforced at the join level, not just the table level, so a role can't accidentally join into data outside its task.</a:t>
            </a:r>
          </a:p>
          <a:p>
            <a:r>
              <a:rPr lang="en-US" dirty="0"/>
              <a:t>4. Compliance documents accessed outside the owning record (Medium) — ownership is checked on every document request.</a:t>
            </a:r>
          </a:p>
          <a:p>
            <a:endParaRPr lang="en-US" dirty="0"/>
          </a:p>
          <a:p>
            <a:r>
              <a:rPr lang="en-US" dirty="0"/>
              <a:t>Closing line: "Each of these was identified and mitigated at design time — that's the point of doing the DPIA before launch, not after."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5EC02-B194-27C0-F6EB-B54839231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4AC56-5955-2E42-D3A5-0181F8DA8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2F471-85F5-1584-C652-3DE2D9AD9A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DPIA risk table for Payment &amp; Billing.</a:t>
            </a:r>
          </a:p>
          <a:p>
            <a:endParaRPr lang="en-US" dirty="0"/>
          </a:p>
          <a:p>
            <a:r>
              <a:rPr lang="en-US" dirty="0"/>
              <a:t>Opening line: "Because payment data traces back to an identifiable person through this chain — Payments to Invoices to Pickup Requests to Business Customers to Users — this module triggered a DPIA under APP 11."</a:t>
            </a:r>
          </a:p>
          <a:p>
            <a:endParaRPr lang="en-US" dirty="0"/>
          </a:p>
          <a:p>
            <a:r>
              <a:rPr lang="en-US" dirty="0"/>
              <a:t>Walk through each risk top to bottom, same pattern each time: name the risk, say the severity, then the one-line mitigation.</a:t>
            </a:r>
          </a:p>
          <a:p>
            <a:endParaRPr lang="en-US" dirty="0"/>
          </a:p>
          <a:p>
            <a:r>
              <a:rPr lang="en-US" dirty="0"/>
              <a:t>1. Unauthorised access to the payments table (High) — every query is scoped to the authenticated customer or company ID, so one account can never pull another's payment records.</a:t>
            </a:r>
          </a:p>
          <a:p>
            <a:r>
              <a:rPr lang="en-US" dirty="0"/>
              <a:t>2. SQL injection / query-scoping errors (High) — all inputs are parameterised, validated and sanitised, per NFR7.</a:t>
            </a:r>
          </a:p>
          <a:p>
            <a:r>
              <a:rPr lang="en-US" dirty="0"/>
              <a:t>3. Over-fetching by a driver or staff role (Medium) — RBAC is enforced at the join level, not just the table level, so a role can't accidentally join into data outside its task.</a:t>
            </a:r>
          </a:p>
          <a:p>
            <a:r>
              <a:rPr lang="en-US" dirty="0"/>
              <a:t>4. Compliance documents accessed outside the owning record (Medium) — ownership is checked on every document request.</a:t>
            </a:r>
          </a:p>
          <a:p>
            <a:endParaRPr lang="en-US" dirty="0"/>
          </a:p>
          <a:p>
            <a:r>
              <a:rPr lang="en-US" dirty="0"/>
              <a:t>Closing line: "Each of these was identified and mitigated at design time — that's the point of doing the DPIA before launch, not after."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65F1B-FDF7-1702-766C-1E63A529E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15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BF73-64E3-95DD-F791-69CA1FC40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0762A-062A-3BFA-7E63-7B85BF033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3AEB8-3285-10A1-8175-A537A9649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43556-405D-77B0-EDAB-A034FB86E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F67AD-6F9D-2846-7689-91C46535B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298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47842-A97B-54C2-AAD3-A2B342A5D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D9C27-B06D-82DE-AA10-5964333F2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1C59D-9081-929A-A64E-761B5060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2941B-0F14-FB18-0FD9-63FD0375F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D1886-C4FB-52AA-C3BF-AFAB1CEA9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776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FCFC-B9DA-BDB9-792A-DE657FF6E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EE205-423B-3265-CCFB-ECF627C0B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A0B7C-7361-B004-19C1-43780E63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F8F4E-03E8-2BAF-C35E-C252D4BF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4CCE9-8D5B-91D2-70D4-B154FDBD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918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477F-7C32-6B45-980F-1CF567F9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1F09C-4FAA-9CC7-6B2F-64C3F8D9B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82C8A3-5282-B69C-3FC4-D3F05F0BC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DFF17-7B7C-8DF3-E21D-D6CBC9373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F0096-6798-C69C-E431-CEB43F3E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C3DB9-DE7B-6897-0D13-369C3F43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03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5D511-61DC-0FEF-7F33-22CB968A1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1D632-A8DD-FECD-A39D-386408F1C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F730B9-A8FA-10CE-AA1C-3F0E60E66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05C9B-5EF0-6E22-3F96-ACE9435F29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29D38-9FD6-7A42-27B9-693E1A027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7298AB-48FF-3B87-6C29-57C401598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B699ED-3D34-5E52-57F0-7804D63D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AC66E6-78C9-1156-7994-BE43ACCC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161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739B-7F5D-E699-02A0-5B3719D3C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68811-22DE-317E-FD6B-00FC7FAF4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1364D4-6AF8-CD01-5DBD-31DA78D15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78CB8-86E5-B1ED-20C8-12FE7DE3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5716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E9645-5843-3EF9-9C89-A5DCD53C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B9F7A-A759-AE96-1084-EEDF95AE0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7D174-50ED-DCED-CFB1-3ED7DEAA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4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0F0F-E94D-F068-5A68-228245D6A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B5631-9785-69F4-A335-5CFB8076A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33ABC6-6F6A-46EF-922E-78C803606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40219-EF0E-2517-A6BA-812CE082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13310-D00A-EA9C-AF14-3AA6FFB9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261EE3-4727-47F7-4D83-7E00A2C5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4215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EC20-AD07-E5B3-BE09-9810D39A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FC20BF-9510-BE95-0207-C70C6DDC3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EC878-FF55-33FD-6A7B-488962D22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FE12B-AE31-F20E-89F0-ED77700AA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68BD6-6CD4-62BA-4152-72E27981F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1F795-8674-0FF1-4C14-647F9117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57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03BB-41AA-BD8C-1604-DCEFE6DE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3DFB2F-5845-3007-223A-3E03623F7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0F339-1639-2787-448A-A060F71E6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9D4C7-C441-8A32-5D4E-77CEAE22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65BE4-D04C-8F20-4861-940A19866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1095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3A1F77-93BA-4DEB-29B4-3BCDE1F6A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43BDF-BADC-AFDA-E495-F771F189B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F6A4A-4C4A-E477-B82A-848D9685F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F963D-C4C6-50BD-DE80-6A0574CC2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37EC0-DE7C-29D4-40B3-338513902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975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AU" sz="240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13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229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21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BEA7ED-23FF-F9EE-A3B8-231F63A94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1C407-4A1C-1A49-F3C1-129890100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512E5-4A14-0E8E-70DE-11561EF3C9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173022-5854-4A9A-A65C-79777B6CAF27}" type="datetimeFigureOut">
              <a:rPr lang="en-AU" smtClean="0"/>
              <a:t>23/08/2026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53622-E73E-4043-B159-5B61C2E21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A988D-6559-DF5D-47B8-4C74A6F1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48E54-33D1-44A9-83A5-ADF76E9EBE0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8616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3" y="1399293"/>
            <a:ext cx="6297017" cy="1181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667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BINCOL Online Commercial Waste Collection System</a:t>
            </a:r>
            <a:endParaRPr lang="en-US" sz="3667" dirty="0"/>
          </a:p>
        </p:txBody>
      </p:sp>
      <p:sp>
        <p:nvSpPr>
          <p:cNvPr id="4" name="Text 1"/>
          <p:cNvSpPr/>
          <p:nvPr/>
        </p:nvSpPr>
        <p:spPr>
          <a:xfrm>
            <a:off x="661493" y="2806391"/>
            <a:ext cx="69066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 &amp; Requirements — SRS Report Presentation</a:t>
            </a:r>
            <a:endParaRPr lang="en-US" sz="1467" dirty="0"/>
          </a:p>
        </p:txBody>
      </p:sp>
      <p:sp>
        <p:nvSpPr>
          <p:cNvPr id="5" name="Shape 2"/>
          <p:cNvSpPr/>
          <p:nvPr/>
        </p:nvSpPr>
        <p:spPr>
          <a:xfrm>
            <a:off x="661493" y="3277955"/>
            <a:ext cx="1331217" cy="287139"/>
          </a:xfrm>
          <a:prstGeom prst="roundRect">
            <a:avLst>
              <a:gd name="adj" fmla="val 2211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6" name="Text 3"/>
          <p:cNvSpPr/>
          <p:nvPr/>
        </p:nvSpPr>
        <p:spPr>
          <a:xfrm>
            <a:off x="774899" y="3334609"/>
            <a:ext cx="171400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133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BRIEF</a:t>
            </a:r>
            <a:endParaRPr lang="en-US" sz="1133" dirty="0"/>
          </a:p>
        </p:txBody>
      </p:sp>
      <p:sp>
        <p:nvSpPr>
          <p:cNvPr id="7" name="Shape 4"/>
          <p:cNvSpPr/>
          <p:nvPr/>
        </p:nvSpPr>
        <p:spPr>
          <a:xfrm>
            <a:off x="2087165" y="3277955"/>
            <a:ext cx="2066528" cy="287139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8" name="Text 5"/>
          <p:cNvSpPr/>
          <p:nvPr/>
        </p:nvSpPr>
        <p:spPr>
          <a:xfrm>
            <a:off x="2182683" y="3350589"/>
            <a:ext cx="24493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133" kern="0" spc="-29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OVERVIEW</a:t>
            </a:r>
            <a:endParaRPr lang="en-US" sz="1133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9CB7C7-B207-688B-E186-7F00CAD18B61}"/>
              </a:ext>
            </a:extLst>
          </p:cNvPr>
          <p:cNvSpPr txBox="1"/>
          <p:nvPr/>
        </p:nvSpPr>
        <p:spPr>
          <a:xfrm>
            <a:off x="508674" y="3924049"/>
            <a:ext cx="6192889" cy="995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67" b="1" dirty="0"/>
              <a:t>Team Members</a:t>
            </a:r>
          </a:p>
          <a:p>
            <a:r>
              <a:rPr lang="en-AU" sz="1467" dirty="0"/>
              <a:t>Md Imran Hossain, Fahad Al </a:t>
            </a:r>
            <a:r>
              <a:rPr lang="en-AU" sz="1467" dirty="0" err="1"/>
              <a:t>Jobayer</a:t>
            </a:r>
            <a:r>
              <a:rPr lang="en-AU" sz="1467" dirty="0"/>
              <a:t>, Debisha Thapa, Sharmen Akter </a:t>
            </a:r>
            <a:r>
              <a:rPr lang="en-AU" sz="1467" dirty="0" err="1"/>
              <a:t>Urme</a:t>
            </a:r>
            <a:r>
              <a:rPr lang="en-AU" sz="1467" dirty="0"/>
              <a:t>, Fiza </a:t>
            </a:r>
            <a:r>
              <a:rPr lang="en-AU" sz="1467" dirty="0" err="1"/>
              <a:t>Taskeya</a:t>
            </a:r>
            <a:endParaRPr lang="en-AU" sz="1467" dirty="0"/>
          </a:p>
          <a:p>
            <a:endParaRPr lang="en-AU" sz="14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6836"/>
          <a:stretch>
            <a:fillRect/>
          </a:stretch>
        </p:blipFill>
        <p:spPr>
          <a:xfrm>
            <a:off x="177632" y="464740"/>
            <a:ext cx="4572000" cy="57033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493" y="523975"/>
            <a:ext cx="6297017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133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A Manual System at Breaking Point</a:t>
            </a:r>
            <a:endParaRPr lang="en-US" sz="3133" dirty="0"/>
          </a:p>
        </p:txBody>
      </p:sp>
      <p:sp>
        <p:nvSpPr>
          <p:cNvPr id="4" name="Text 1"/>
          <p:cNvSpPr/>
          <p:nvPr/>
        </p:nvSpPr>
        <p:spPr>
          <a:xfrm>
            <a:off x="5233493" y="1722538"/>
            <a:ext cx="6297017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BINCOL's customer base has grown, reliance on phone calls, emails, spreadsheets, and paper records has created serious operational strain.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233493" y="2344143"/>
            <a:ext cx="6297017" cy="896540"/>
          </a:xfrm>
          <a:prstGeom prst="roundRect">
            <a:avLst>
              <a:gd name="adj" fmla="val 7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6" name="Text 3"/>
          <p:cNvSpPr/>
          <p:nvPr/>
        </p:nvSpPr>
        <p:spPr>
          <a:xfrm>
            <a:off x="5399286" y="2509937"/>
            <a:ext cx="5965428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Booking Errors</a:t>
            </a:r>
            <a:endParaRPr lang="en-US" sz="1533" dirty="0"/>
          </a:p>
        </p:txBody>
      </p:sp>
      <p:sp>
        <p:nvSpPr>
          <p:cNvPr id="7" name="Text 4"/>
          <p:cNvSpPr/>
          <p:nvPr/>
        </p:nvSpPr>
        <p:spPr>
          <a:xfrm>
            <a:off x="5399286" y="2839741"/>
            <a:ext cx="596542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Missed and double-booked pickups caused by manual scheduling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233493" y="3375225"/>
            <a:ext cx="6297017" cy="896540"/>
          </a:xfrm>
          <a:prstGeom prst="roundRect">
            <a:avLst>
              <a:gd name="adj" fmla="val 7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9" name="Text 6"/>
          <p:cNvSpPr/>
          <p:nvPr/>
        </p:nvSpPr>
        <p:spPr>
          <a:xfrm>
            <a:off x="5399286" y="3541017"/>
            <a:ext cx="5965428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Inefficient Routes</a:t>
            </a:r>
            <a:endParaRPr lang="en-US" sz="1533" dirty="0"/>
          </a:p>
        </p:txBody>
      </p:sp>
      <p:sp>
        <p:nvSpPr>
          <p:cNvPr id="10" name="Text 7"/>
          <p:cNvSpPr/>
          <p:nvPr/>
        </p:nvSpPr>
        <p:spPr>
          <a:xfrm>
            <a:off x="5399286" y="3870822"/>
            <a:ext cx="596542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systematic route planning — drivers lose time and fuel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33493" y="4406306"/>
            <a:ext cx="6297017" cy="896540"/>
          </a:xfrm>
          <a:prstGeom prst="roundRect">
            <a:avLst>
              <a:gd name="adj" fmla="val 7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2" name="Text 9"/>
          <p:cNvSpPr/>
          <p:nvPr/>
        </p:nvSpPr>
        <p:spPr>
          <a:xfrm>
            <a:off x="5399286" y="4572099"/>
            <a:ext cx="5965428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Billing Disputes</a:t>
            </a:r>
            <a:endParaRPr lang="en-US" sz="1533" dirty="0"/>
          </a:p>
        </p:txBody>
      </p:sp>
      <p:sp>
        <p:nvSpPr>
          <p:cNvPr id="13" name="Text 10"/>
          <p:cNvSpPr/>
          <p:nvPr/>
        </p:nvSpPr>
        <p:spPr>
          <a:xfrm>
            <a:off x="5399286" y="4901903"/>
            <a:ext cx="596542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invoicing and poor record management create friction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233493" y="5437386"/>
            <a:ext cx="6297017" cy="896540"/>
          </a:xfrm>
          <a:prstGeom prst="roundRect">
            <a:avLst>
              <a:gd name="adj" fmla="val 74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AU" sz="2400"/>
          </a:p>
        </p:txBody>
      </p:sp>
      <p:sp>
        <p:nvSpPr>
          <p:cNvPr id="15" name="Text 12"/>
          <p:cNvSpPr/>
          <p:nvPr/>
        </p:nvSpPr>
        <p:spPr>
          <a:xfrm>
            <a:off x="5399286" y="5603180"/>
            <a:ext cx="5965428" cy="249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33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Slow Response</a:t>
            </a:r>
            <a:endParaRPr lang="en-US" sz="1533" dirty="0"/>
          </a:p>
        </p:txBody>
      </p:sp>
      <p:sp>
        <p:nvSpPr>
          <p:cNvPr id="16" name="Text 13"/>
          <p:cNvSpPr/>
          <p:nvPr/>
        </p:nvSpPr>
        <p:spPr>
          <a:xfrm>
            <a:off x="5399286" y="5932985"/>
            <a:ext cx="5965428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in processing requests and resolving customer issues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0EF64E-A1D5-E905-EC0F-3CF91C83558F}"/>
              </a:ext>
            </a:extLst>
          </p:cNvPr>
          <p:cNvSpPr/>
          <p:nvPr/>
        </p:nvSpPr>
        <p:spPr>
          <a:xfrm>
            <a:off x="10552943" y="6402819"/>
            <a:ext cx="1558316" cy="3714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633215"/>
            <a:ext cx="10869017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333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Purpose &amp; Objectives</a:t>
            </a:r>
            <a:endParaRPr lang="en-US" sz="3333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3" y="1852713"/>
            <a:ext cx="6918524" cy="392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4275" y="1556445"/>
            <a:ext cx="353248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67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Purpose</a:t>
            </a:r>
            <a:endParaRPr lang="en-US" sz="1667" dirty="0"/>
          </a:p>
        </p:txBody>
      </p:sp>
      <p:sp>
        <p:nvSpPr>
          <p:cNvPr id="5" name="Text 2"/>
          <p:cNvSpPr/>
          <p:nvPr/>
        </p:nvSpPr>
        <p:spPr>
          <a:xfrm>
            <a:off x="8004275" y="1979217"/>
            <a:ext cx="3532485" cy="1044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7000"/>
              </a:lnSpc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single online platform connecting </a:t>
            </a:r>
            <a:r>
              <a:rPr lang="en-US" sz="1333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customers</a:t>
            </a: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333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drivers</a:t>
            </a: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333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office administrators</a:t>
            </a: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replacing all manual processes with a unified digital system.</a:t>
            </a:r>
            <a:endParaRPr lang="en-US" sz="1333" dirty="0"/>
          </a:p>
        </p:txBody>
      </p:sp>
      <p:sp>
        <p:nvSpPr>
          <p:cNvPr id="6" name="Text 3"/>
          <p:cNvSpPr/>
          <p:nvPr/>
        </p:nvSpPr>
        <p:spPr>
          <a:xfrm>
            <a:off x="8004275" y="3179366"/>
            <a:ext cx="353248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67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Objectives</a:t>
            </a:r>
            <a:endParaRPr lang="en-US" sz="1667" dirty="0"/>
          </a:p>
        </p:txBody>
      </p:sp>
      <p:sp>
        <p:nvSpPr>
          <p:cNvPr id="7" name="Text 4"/>
          <p:cNvSpPr/>
          <p:nvPr/>
        </p:nvSpPr>
        <p:spPr>
          <a:xfrm>
            <a:off x="8004275" y="3602138"/>
            <a:ext cx="3532485" cy="2568277"/>
          </a:xfrm>
          <a:prstGeom prst="rect">
            <a:avLst/>
          </a:prstGeom>
          <a:noFill/>
          <a:ln/>
        </p:spPr>
        <p:txBody>
          <a:bodyPr wrap="square" lIns="0" tIns="68521" rIns="0" bIns="0" rtlCol="0" anchor="t">
            <a:normAutofit/>
          </a:bodyPr>
          <a:lstStyle/>
          <a:p>
            <a:pPr marL="270927" indent="-270927">
              <a:lnSpc>
                <a:spcPct val="127000"/>
              </a:lnSpc>
              <a:buSzPct val="100000"/>
              <a:buChar char="•"/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self-service for bookings and account management</a:t>
            </a:r>
            <a:endParaRPr lang="en-US" sz="1333" dirty="0"/>
          </a:p>
          <a:p>
            <a:pPr marL="270927" indent="-270927">
              <a:lnSpc>
                <a:spcPct val="127000"/>
              </a:lnSpc>
              <a:buSzPct val="100000"/>
              <a:buChar char="•"/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scheduling and driver route information</a:t>
            </a:r>
            <a:endParaRPr lang="en-US" sz="1333" dirty="0"/>
          </a:p>
          <a:p>
            <a:pPr marL="270927" indent="-270927">
              <a:lnSpc>
                <a:spcPct val="127000"/>
              </a:lnSpc>
              <a:buSzPct val="100000"/>
              <a:buChar char="•"/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payments and automated invoicing</a:t>
            </a:r>
            <a:endParaRPr lang="en-US" sz="1333" dirty="0"/>
          </a:p>
          <a:p>
            <a:pPr marL="270927" indent="-270927">
              <a:lnSpc>
                <a:spcPct val="127000"/>
              </a:lnSpc>
              <a:buSzPct val="100000"/>
              <a:buChar char="•"/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Auditable records and improved data security</a:t>
            </a:r>
            <a:endParaRPr lang="en-US" sz="1333" dirty="0"/>
          </a:p>
          <a:p>
            <a:pPr marL="270927" indent="-270927">
              <a:lnSpc>
                <a:spcPct val="127000"/>
              </a:lnSpc>
              <a:buSzPct val="100000"/>
              <a:buChar char="•"/>
            </a:pPr>
            <a:r>
              <a:rPr lang="en-US" sz="1333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reporting and performance visibility</a:t>
            </a:r>
            <a:endParaRPr lang="en-US" sz="1333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9542E7-1EBA-DF7F-55A2-E5B775D35A8E}"/>
              </a:ext>
            </a:extLst>
          </p:cNvPr>
          <p:cNvSpPr/>
          <p:nvPr/>
        </p:nvSpPr>
        <p:spPr>
          <a:xfrm>
            <a:off x="10552943" y="6402819"/>
            <a:ext cx="1558316" cy="3714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533797"/>
            <a:ext cx="10869017" cy="563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533" b="1" kern="0" spc="-10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Scope</a:t>
            </a:r>
            <a:endParaRPr lang="en-US" sz="3533" dirty="0"/>
          </a:p>
        </p:txBody>
      </p:sp>
      <p:sp>
        <p:nvSpPr>
          <p:cNvPr id="3" name="Text 1"/>
          <p:cNvSpPr/>
          <p:nvPr/>
        </p:nvSpPr>
        <p:spPr>
          <a:xfrm>
            <a:off x="661493" y="1440261"/>
            <a:ext cx="114786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covers six core functional areas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93" y="1914922"/>
            <a:ext cx="360263" cy="360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93" y="2489795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Account Management</a:t>
            </a:r>
            <a:endParaRPr lang="en-US" sz="1733" dirty="0"/>
          </a:p>
        </p:txBody>
      </p:sp>
      <p:sp>
        <p:nvSpPr>
          <p:cNvPr id="6" name="Text 3"/>
          <p:cNvSpPr/>
          <p:nvPr/>
        </p:nvSpPr>
        <p:spPr>
          <a:xfrm>
            <a:off x="661493" y="2874269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registration, profiles, and service subscriptions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3257" y="1914922"/>
            <a:ext cx="360263" cy="3602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03256" y="2489795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Pickup Booking</a:t>
            </a:r>
            <a:endParaRPr lang="en-US" sz="1733" dirty="0"/>
          </a:p>
        </p:txBody>
      </p:sp>
      <p:sp>
        <p:nvSpPr>
          <p:cNvPr id="9" name="Text 5"/>
          <p:cNvSpPr/>
          <p:nvPr/>
        </p:nvSpPr>
        <p:spPr>
          <a:xfrm>
            <a:off x="6203256" y="2874269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scheduling with automated confirmation and reminders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93" y="3499149"/>
            <a:ext cx="360263" cy="3602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93" y="4074022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Online Payments</a:t>
            </a:r>
            <a:endParaRPr lang="en-US" sz="1733" dirty="0"/>
          </a:p>
        </p:txBody>
      </p:sp>
      <p:sp>
        <p:nvSpPr>
          <p:cNvPr id="12" name="Text 7"/>
          <p:cNvSpPr/>
          <p:nvPr/>
        </p:nvSpPr>
        <p:spPr>
          <a:xfrm>
            <a:off x="661493" y="4458494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gateway integration for invoices and transactions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3257" y="3499149"/>
            <a:ext cx="360263" cy="3602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03256" y="4074022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 &amp; Route Management</a:t>
            </a:r>
            <a:endParaRPr lang="en-US" sz="1733" dirty="0"/>
          </a:p>
        </p:txBody>
      </p:sp>
      <p:sp>
        <p:nvSpPr>
          <p:cNvPr id="15" name="Text 9"/>
          <p:cNvSpPr/>
          <p:nvPr/>
        </p:nvSpPr>
        <p:spPr>
          <a:xfrm>
            <a:off x="6203256" y="4458494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route assignments and truck allocation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93" y="5083374"/>
            <a:ext cx="360263" cy="3602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93" y="5658247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Complaints &amp; Feedback</a:t>
            </a:r>
            <a:endParaRPr lang="en-US" sz="1733" dirty="0"/>
          </a:p>
        </p:txBody>
      </p:sp>
      <p:sp>
        <p:nvSpPr>
          <p:cNvPr id="18" name="Text 11"/>
          <p:cNvSpPr/>
          <p:nvPr/>
        </p:nvSpPr>
        <p:spPr>
          <a:xfrm>
            <a:off x="661493" y="6042721"/>
            <a:ext cx="53271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channels for customer issues and resolution tracking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3257" y="5083374"/>
            <a:ext cx="360263" cy="3602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03256" y="5658247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Notifications &amp; Reporting</a:t>
            </a:r>
            <a:endParaRPr lang="en-US" sz="1733" dirty="0"/>
          </a:p>
        </p:txBody>
      </p:sp>
      <p:sp>
        <p:nvSpPr>
          <p:cNvPr id="21" name="Text 13"/>
          <p:cNvSpPr/>
          <p:nvPr/>
        </p:nvSpPr>
        <p:spPr>
          <a:xfrm>
            <a:off x="6203256" y="6042721"/>
            <a:ext cx="532725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alerts and management performance dashboards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5312CE-D05D-67D9-41E7-4564354AFC08}"/>
              </a:ext>
            </a:extLst>
          </p:cNvPr>
          <p:cNvSpPr/>
          <p:nvPr/>
        </p:nvSpPr>
        <p:spPr>
          <a:xfrm>
            <a:off x="10552943" y="6402819"/>
            <a:ext cx="1558316" cy="3714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525363"/>
            <a:ext cx="10869017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467" b="1" kern="0" spc="-10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Deliverables</a:t>
            </a:r>
            <a:endParaRPr lang="en-US" sz="3467" dirty="0"/>
          </a:p>
        </p:txBody>
      </p:sp>
      <p:sp>
        <p:nvSpPr>
          <p:cNvPr id="3" name="Text 1"/>
          <p:cNvSpPr/>
          <p:nvPr/>
        </p:nvSpPr>
        <p:spPr>
          <a:xfrm>
            <a:off x="661493" y="1411288"/>
            <a:ext cx="11478617" cy="27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is structured across seven phases, each with defined outputs and approval gates.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661493" y="1872753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33" dirty="0"/>
          </a:p>
        </p:txBody>
      </p:sp>
      <p:sp>
        <p:nvSpPr>
          <p:cNvPr id="5" name="Shape 3"/>
          <p:cNvSpPr/>
          <p:nvPr/>
        </p:nvSpPr>
        <p:spPr>
          <a:xfrm>
            <a:off x="661493" y="2154833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6" name="Text 4"/>
          <p:cNvSpPr/>
          <p:nvPr/>
        </p:nvSpPr>
        <p:spPr>
          <a:xfrm>
            <a:off x="661493" y="2281535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Planning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661493" y="2658071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charter, scope definition, and stakeholder alignment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4339829" y="1872753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339829" y="2154833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0" name="Text 8"/>
          <p:cNvSpPr/>
          <p:nvPr/>
        </p:nvSpPr>
        <p:spPr>
          <a:xfrm>
            <a:off x="4339829" y="2281535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Management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4339829" y="2658071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register, mitigation strategies, and contingency planning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8018166" y="1872753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8018166" y="2154833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4" name="Text 12"/>
          <p:cNvSpPr/>
          <p:nvPr/>
        </p:nvSpPr>
        <p:spPr>
          <a:xfrm>
            <a:off x="8018166" y="2281535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Design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8018166" y="2658071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architecture, UI/UX wireframes, and database design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661493" y="3506292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661493" y="3788371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18" name="Text 16"/>
          <p:cNvSpPr/>
          <p:nvPr/>
        </p:nvSpPr>
        <p:spPr>
          <a:xfrm>
            <a:off x="661493" y="3915072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661493" y="4291608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Iterative build sprints with regular stakeholder reviews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4339829" y="3506292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4339829" y="3788371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2" name="Text 20"/>
          <p:cNvSpPr/>
          <p:nvPr/>
        </p:nvSpPr>
        <p:spPr>
          <a:xfrm>
            <a:off x="4339829" y="3915072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Testing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4339829" y="4291608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Functional, performance, and user acceptance testing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8018166" y="3506292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8018166" y="3788371"/>
            <a:ext cx="3512244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26" name="Text 24"/>
          <p:cNvSpPr/>
          <p:nvPr/>
        </p:nvSpPr>
        <p:spPr>
          <a:xfrm>
            <a:off x="8018166" y="3915072"/>
            <a:ext cx="3512244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 &amp; Training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8018166" y="4291608"/>
            <a:ext cx="3512244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Go-live support, documentation, and staff training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661493" y="5139829"/>
            <a:ext cx="3544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333" kern="0" spc="-41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661492" y="5421908"/>
            <a:ext cx="10868917" cy="19051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AU" sz="2400"/>
          </a:p>
        </p:txBody>
      </p:sp>
      <p:sp>
        <p:nvSpPr>
          <p:cNvPr id="30" name="Text 28"/>
          <p:cNvSpPr/>
          <p:nvPr/>
        </p:nvSpPr>
        <p:spPr>
          <a:xfrm>
            <a:off x="661492" y="5548611"/>
            <a:ext cx="1086891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Closure</a:t>
            </a:r>
            <a:endParaRPr lang="en-US" sz="1733" dirty="0"/>
          </a:p>
        </p:txBody>
      </p:sp>
      <p:sp>
        <p:nvSpPr>
          <p:cNvPr id="31" name="Text 29"/>
          <p:cNvSpPr/>
          <p:nvPr/>
        </p:nvSpPr>
        <p:spPr>
          <a:xfrm>
            <a:off x="661492" y="5925146"/>
            <a:ext cx="10868917" cy="27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US" sz="1333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review, handover, and lessons-learned report</a:t>
            </a:r>
            <a:endParaRPr lang="en-US" sz="1333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ED7F09-209B-12F6-075C-FDAF1218F3F8}"/>
              </a:ext>
            </a:extLst>
          </p:cNvPr>
          <p:cNvSpPr/>
          <p:nvPr/>
        </p:nvSpPr>
        <p:spPr>
          <a:xfrm>
            <a:off x="10552943" y="6402819"/>
            <a:ext cx="1558316" cy="3714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605830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Requirements at a Glance</a:t>
            </a:r>
            <a:endParaRPr lang="en-US" sz="3667" dirty="0"/>
          </a:p>
        </p:txBody>
      </p:sp>
      <p:sp>
        <p:nvSpPr>
          <p:cNvPr id="3" name="Text 1"/>
          <p:cNvSpPr/>
          <p:nvPr/>
        </p:nvSpPr>
        <p:spPr>
          <a:xfrm>
            <a:off x="661492" y="1668959"/>
            <a:ext cx="5316339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867" b="1" kern="0" spc="-1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49</a:t>
            </a:r>
            <a:endParaRPr lang="en-US" sz="4867" dirty="0"/>
          </a:p>
        </p:txBody>
      </p:sp>
      <p:sp>
        <p:nvSpPr>
          <p:cNvPr id="4" name="Text 2"/>
          <p:cNvSpPr/>
          <p:nvPr/>
        </p:nvSpPr>
        <p:spPr>
          <a:xfrm>
            <a:off x="661492" y="2528888"/>
            <a:ext cx="531633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Requirements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1492" y="2937569"/>
            <a:ext cx="53163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67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9 operational categories</a:t>
            </a:r>
            <a:endParaRPr lang="en-US" sz="1467" dirty="0"/>
          </a:p>
        </p:txBody>
      </p:sp>
      <p:sp>
        <p:nvSpPr>
          <p:cNvPr id="6" name="Text 4"/>
          <p:cNvSpPr/>
          <p:nvPr/>
        </p:nvSpPr>
        <p:spPr>
          <a:xfrm>
            <a:off x="6214071" y="1668959"/>
            <a:ext cx="5316439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867" b="1" kern="0" spc="-1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</a:t>
            </a:r>
            <a:endParaRPr lang="en-US" sz="4867" dirty="0"/>
          </a:p>
        </p:txBody>
      </p:sp>
      <p:sp>
        <p:nvSpPr>
          <p:cNvPr id="7" name="Text 5"/>
          <p:cNvSpPr/>
          <p:nvPr/>
        </p:nvSpPr>
        <p:spPr>
          <a:xfrm>
            <a:off x="6214071" y="2528888"/>
            <a:ext cx="531643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Non-Functional Requirements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14071" y="2937569"/>
            <a:ext cx="53164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67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Covering quality, security, and resilience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661492" y="3712469"/>
            <a:ext cx="5316339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867" b="1" kern="0" spc="-1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4867" dirty="0"/>
          </a:p>
        </p:txBody>
      </p:sp>
      <p:sp>
        <p:nvSpPr>
          <p:cNvPr id="10" name="Text 8"/>
          <p:cNvSpPr/>
          <p:nvPr/>
        </p:nvSpPr>
        <p:spPr>
          <a:xfrm>
            <a:off x="661492" y="4572397"/>
            <a:ext cx="531633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Phases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1492" y="4981079"/>
            <a:ext cx="53163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67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planning through to closure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6214071" y="3712469"/>
            <a:ext cx="5316439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83000"/>
              </a:lnSpc>
            </a:pPr>
            <a:r>
              <a:rPr lang="en-US" sz="4867" b="1" kern="0" spc="-14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4867" dirty="0"/>
          </a:p>
        </p:txBody>
      </p:sp>
      <p:sp>
        <p:nvSpPr>
          <p:cNvPr id="13" name="Text 11"/>
          <p:cNvSpPr/>
          <p:nvPr/>
        </p:nvSpPr>
        <p:spPr>
          <a:xfrm>
            <a:off x="6214071" y="4572397"/>
            <a:ext cx="531643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Areas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14071" y="4981079"/>
            <a:ext cx="53164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en-US" sz="1467" kern="0" spc="-2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Richmond, Fitzroy &amp; Collingwood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61493" y="5496125"/>
            <a:ext cx="10869017" cy="755948"/>
          </a:xfrm>
          <a:prstGeom prst="roundRect">
            <a:avLst>
              <a:gd name="adj" fmla="val 10502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AU" sz="240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03" y="5763817"/>
            <a:ext cx="236240" cy="18901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75755" y="5732363"/>
            <a:ext cx="106753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kern="0" spc="-2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64 requirements will be tracked, tested, and signed off before system deployment.</a:t>
            </a:r>
            <a:endParaRPr lang="en-US" sz="1467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97A3E3-9FFB-81EB-106F-E9460131AC23}"/>
              </a:ext>
            </a:extLst>
          </p:cNvPr>
          <p:cNvSpPr/>
          <p:nvPr/>
        </p:nvSpPr>
        <p:spPr>
          <a:xfrm>
            <a:off x="10552943" y="6402819"/>
            <a:ext cx="1558316" cy="3714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sz="1133" b="1" dirty="0">
                <a:solidFill>
                  <a:srgbClr val="4950BC"/>
                </a:solidFill>
                <a:latin typeface="Inter Bold"/>
              </a:rPr>
              <a:t>Imran</a:t>
            </a:r>
            <a:endParaRPr sz="1133" b="1" dirty="0">
              <a:solidFill>
                <a:srgbClr val="4950BC"/>
              </a:solidFill>
              <a:latin typeface="Inter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 dirty="0">
                <a:solidFill>
                  <a:srgbClr val="6B6B7B"/>
                </a:solidFill>
                <a:latin typeface="Inter Bold"/>
              </a:rPr>
              <a:t>SRS SECTION </a:t>
            </a:r>
            <a:r>
              <a:rPr lang="en-AU" sz="1133" b="1" dirty="0">
                <a:solidFill>
                  <a:srgbClr val="6B6B7B"/>
                </a:solidFill>
                <a:latin typeface="Inter Bold"/>
              </a:rPr>
              <a:t>9</a:t>
            </a:r>
            <a:r>
              <a:rPr sz="1133" b="1" dirty="0">
                <a:solidFill>
                  <a:srgbClr val="6B6B7B"/>
                </a:solidFill>
                <a:latin typeface="Inter Bold"/>
              </a:rPr>
              <a:t>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18408" y="467308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sz="2800" b="1" dirty="0">
                <a:solidFill>
                  <a:srgbClr val="000000"/>
                </a:solidFill>
                <a:latin typeface="Inter Bold"/>
              </a:rPr>
              <a:t>Sequence Diagram</a:t>
            </a:r>
            <a:endParaRPr sz="2800" b="1" dirty="0">
              <a:solidFill>
                <a:srgbClr val="000000"/>
              </a:solidFill>
              <a:latin typeface="Inter 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5704" y="925400"/>
            <a:ext cx="6675747" cy="56070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sz="1133" b="1" dirty="0">
                <a:solidFill>
                  <a:srgbClr val="4950BC"/>
                </a:solidFill>
                <a:latin typeface="Inter Bold"/>
              </a:rPr>
              <a:t>Imran</a:t>
            </a:r>
            <a:endParaRPr sz="1133" b="1" dirty="0">
              <a:solidFill>
                <a:srgbClr val="4950BC"/>
              </a:solidFill>
              <a:latin typeface="Inter 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6B6B7B"/>
                </a:solidFill>
                <a:latin typeface="Inter Bold"/>
              </a:rPr>
              <a:t>SRS SECTION 8.2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2208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Inter Bold"/>
              </a:rPr>
              <a:t>DFD Level 2 — Manage </a:t>
            </a:r>
            <a:r>
              <a:rPr lang="en-AU" sz="2800" b="1" dirty="0">
                <a:solidFill>
                  <a:srgbClr val="000000"/>
                </a:solidFill>
                <a:latin typeface="Inter Bold"/>
              </a:rPr>
              <a:t>Notifications and Communications</a:t>
            </a:r>
            <a:endParaRPr sz="2800" b="1" dirty="0">
              <a:solidFill>
                <a:srgbClr val="000000"/>
              </a:solidFill>
              <a:latin typeface="Inter 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28333" y="1406247"/>
            <a:ext cx="6840390" cy="51302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0779-38B6-1805-EE35-37890F2EB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39915C4-D7A7-A354-0DC7-3698065121C4}"/>
              </a:ext>
            </a:extLst>
          </p:cNvPr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E0BCB-2A92-4F84-3D80-F2644D484290}"/>
              </a:ext>
            </a:extLst>
          </p:cNvPr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AU" sz="1133" b="1" dirty="0">
                <a:solidFill>
                  <a:srgbClr val="4950BC"/>
                </a:solidFill>
                <a:latin typeface="Inter Bold"/>
              </a:rPr>
              <a:t>Imran</a:t>
            </a:r>
            <a:endParaRPr sz="1133" b="1" dirty="0">
              <a:solidFill>
                <a:srgbClr val="4950BC"/>
              </a:solidFill>
              <a:latin typeface="Inter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89E87-1FBD-E5A2-F450-BF24CC7BC3CB}"/>
              </a:ext>
            </a:extLst>
          </p:cNvPr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6B6B7B"/>
                </a:solidFill>
                <a:latin typeface="Inter Bold"/>
              </a:rPr>
              <a:t>SRS SECTION 8.2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2A40C-966E-3077-DC22-94C2C795E9DA}"/>
              </a:ext>
            </a:extLst>
          </p:cNvPr>
          <p:cNvSpPr txBox="1"/>
          <p:nvPr/>
        </p:nvSpPr>
        <p:spPr>
          <a:xfrm>
            <a:off x="658368" y="902208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Inter Bold"/>
              </a:rPr>
              <a:t>DFD Level 2 — Manage</a:t>
            </a:r>
            <a:r>
              <a:rPr lang="en-AU" sz="2800" b="1" dirty="0">
                <a:solidFill>
                  <a:srgbClr val="000000"/>
                </a:solidFill>
                <a:latin typeface="Inter Bold"/>
              </a:rPr>
              <a:t> Reports and Feedback</a:t>
            </a:r>
            <a:endParaRPr sz="2800" b="1" dirty="0">
              <a:solidFill>
                <a:srgbClr val="000000"/>
              </a:solidFill>
              <a:latin typeface="Inter 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A33E58-1DF8-B3DE-EE16-15364FEC3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8800" y="1680047"/>
            <a:ext cx="8009313" cy="481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71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33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6B6B7B"/>
                </a:solidFill>
                <a:latin typeface="Inter Bold"/>
              </a:rPr>
              <a:t>SRS SECTION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2209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Inter Bold"/>
              </a:rPr>
              <a:t>Software &amp; Hardware Architecture</a:t>
            </a:r>
          </a:p>
        </p:txBody>
      </p:sp>
      <p:pic>
        <p:nvPicPr>
          <p:cNvPr id="6" name="Picture 5" descr="fig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833" y="1463041"/>
            <a:ext cx="3441627" cy="27797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8833" y="4315967"/>
            <a:ext cx="344162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B6B7B"/>
                </a:solidFill>
                <a:latin typeface="Inter"/>
              </a:rPr>
              <a:t>Figure 4.1 — Software architecture</a:t>
            </a:r>
          </a:p>
        </p:txBody>
      </p:sp>
      <p:pic>
        <p:nvPicPr>
          <p:cNvPr id="8" name="Picture 7" descr="fig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539985"/>
            <a:ext cx="5242560" cy="26258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91072" y="4239023"/>
            <a:ext cx="52425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B6B7B"/>
                </a:solidFill>
                <a:latin typeface="Inter"/>
              </a:rPr>
              <a:t>Figure 4.2 — Hardware architecture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4852416"/>
            <a:ext cx="97536" cy="97536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65632" y="4779264"/>
            <a:ext cx="3316224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b="1">
                <a:solidFill>
                  <a:srgbClr val="000000"/>
                </a:solidFill>
                <a:latin typeface="Inter Bold"/>
              </a:rPr>
              <a:t>Presentation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632" y="5035296"/>
            <a:ext cx="3316224" cy="523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What the user sees. Bootstrap 5, so the same site works on a driver's phone and an office desktop. NFR9, NFR10</a:t>
            </a:r>
          </a:p>
        </p:txBody>
      </p:sp>
      <p:sp>
        <p:nvSpPr>
          <p:cNvPr id="13" name="Oval 12"/>
          <p:cNvSpPr/>
          <p:nvPr/>
        </p:nvSpPr>
        <p:spPr>
          <a:xfrm>
            <a:off x="4389120" y="4852416"/>
            <a:ext cx="97536" cy="97536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4596384" y="4779264"/>
            <a:ext cx="3316224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b="1">
                <a:solidFill>
                  <a:srgbClr val="000000"/>
                </a:solidFill>
                <a:latin typeface="Inter Bold"/>
              </a:rPr>
              <a:t>Application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6384" y="5035296"/>
            <a:ext cx="3316224" cy="523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Where every rule lives, once — cost estimate, hazardous-waste block, double-booking check. Laravel MVC. NFR11</a:t>
            </a:r>
          </a:p>
        </p:txBody>
      </p:sp>
      <p:sp>
        <p:nvSpPr>
          <p:cNvPr id="16" name="Oval 15"/>
          <p:cNvSpPr/>
          <p:nvPr/>
        </p:nvSpPr>
        <p:spPr>
          <a:xfrm>
            <a:off x="8119872" y="4852416"/>
            <a:ext cx="97536" cy="97536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327136" y="4779264"/>
            <a:ext cx="3316224" cy="19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67" b="1">
                <a:solidFill>
                  <a:srgbClr val="000000"/>
                </a:solidFill>
                <a:latin typeface="Inter Bold"/>
              </a:rPr>
              <a:t>Data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7136" y="5035296"/>
            <a:ext cx="3316224" cy="523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MySQL for records, permits and invoices as files, encrypted daily backups kept 30 days. NFR5, NFR13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022849"/>
            <a:ext cx="10875264" cy="328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7">
                <a:solidFill>
                  <a:srgbClr val="6B6B7B"/>
                </a:solidFill>
                <a:latin typeface="Inter"/>
              </a:rPr>
              <a:t>Hardware: application server 4 vCPU / 8 GB and database server 2 vCPU / 8 GB, both in an Australian region so customer data stays in Australia (NFR15). Maps, card payments and email are used, not built — three services we depend on but do not control.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33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6B6B7B"/>
                </a:solidFill>
                <a:latin typeface="Inter Bold"/>
              </a:rPr>
              <a:t>SRS SECTION 5.1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2209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Inter Bold"/>
              </a:rPr>
              <a:t>User Interface Design — Landing Page</a:t>
            </a:r>
          </a:p>
        </p:txBody>
      </p:sp>
      <p:pic>
        <p:nvPicPr>
          <p:cNvPr id="6" name="Picture 5" descr="w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60" y="1536192"/>
            <a:ext cx="3664373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15840" y="1584960"/>
            <a:ext cx="6717792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000000"/>
                </a:solidFill>
                <a:latin typeface="Inter Bold"/>
              </a:rPr>
              <a:t>Why the screen is laid out this way</a:t>
            </a:r>
          </a:p>
        </p:txBody>
      </p:sp>
      <p:sp>
        <p:nvSpPr>
          <p:cNvPr id="8" name="Oval 7"/>
          <p:cNvSpPr/>
          <p:nvPr/>
        </p:nvSpPr>
        <p:spPr>
          <a:xfrm>
            <a:off x="4815840" y="1987296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5010912" y="1926336"/>
            <a:ext cx="6522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One primary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2127505"/>
            <a:ext cx="652272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"Request a pickup" is the only emphasised button above the fold, so a visitor is never unsure what to do next. UI Requirement 1</a:t>
            </a:r>
          </a:p>
        </p:txBody>
      </p:sp>
      <p:sp>
        <p:nvSpPr>
          <p:cNvPr id="11" name="Oval 10"/>
          <p:cNvSpPr/>
          <p:nvPr/>
        </p:nvSpPr>
        <p:spPr>
          <a:xfrm>
            <a:off x="4815840" y="2802940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010912" y="2741980"/>
            <a:ext cx="6522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Fixed information zones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2943148"/>
            <a:ext cx="652272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Navigation, hero, content blocks and footer sit in the same place on every screen in the set, so messages and errors always appear where the user expects them. UI Requirement 2</a:t>
            </a:r>
          </a:p>
        </p:txBody>
      </p:sp>
      <p:sp>
        <p:nvSpPr>
          <p:cNvPr id="14" name="Oval 13"/>
          <p:cNvSpPr/>
          <p:nvPr/>
        </p:nvSpPr>
        <p:spPr>
          <a:xfrm>
            <a:off x="4815840" y="3618585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010912" y="3557626"/>
            <a:ext cx="6522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Public before private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3758793"/>
            <a:ext cx="652272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Only Log in and Sign up appear here. Which dashboard you land on afterwards is decided by your role — Customer, Staff, Driver or Admin. FR3, FR4</a:t>
            </a:r>
          </a:p>
        </p:txBody>
      </p:sp>
      <p:sp>
        <p:nvSpPr>
          <p:cNvPr id="17" name="Oval 16"/>
          <p:cNvSpPr/>
          <p:nvPr/>
        </p:nvSpPr>
        <p:spPr>
          <a:xfrm>
            <a:off x="4815840" y="4434229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5010912" y="4373270"/>
            <a:ext cx="6522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It answers the question before it is asked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574438"/>
            <a:ext cx="652272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"How it works" in three steps, the four waste categories with their bin sizes, and the reasons to choose BINCOL — all before any sign-up.</a:t>
            </a:r>
          </a:p>
        </p:txBody>
      </p:sp>
      <p:sp>
        <p:nvSpPr>
          <p:cNvPr id="20" name="Oval 19"/>
          <p:cNvSpPr/>
          <p:nvPr/>
        </p:nvSpPr>
        <p:spPr>
          <a:xfrm>
            <a:off x="4815840" y="5249875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5010912" y="5188915"/>
            <a:ext cx="65227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Built to flex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5390084"/>
            <a:ext cx="6522720" cy="34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Twelve-column grid reflows to tablet and phone; contrast and focus order meet WCAG 2.1 AA. NFR9, NFR10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12992"/>
            <a:ext cx="108752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B6B7B"/>
                </a:solidFill>
                <a:latin typeface="Inter"/>
              </a:rPr>
              <a:t>Wireframed in Balsamiq Cloud — one of ten screens in my set, WF01–WF10.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33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6B6B7B"/>
                </a:solidFill>
                <a:latin typeface="Inter Bold"/>
              </a:rPr>
              <a:t>SRS SECTION 6.0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2209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Inter Bold"/>
              </a:rPr>
              <a:t>Requirement Analysis — Use Case Diagram</a:t>
            </a:r>
          </a:p>
        </p:txBody>
      </p:sp>
      <p:pic>
        <p:nvPicPr>
          <p:cNvPr id="6" name="Picture 5" descr="fig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88" y="1536192"/>
            <a:ext cx="4207917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8488" y="5632703"/>
            <a:ext cx="420791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B6B7B"/>
                </a:solidFill>
                <a:latin typeface="Inter"/>
              </a:rPr>
              <a:t>Figure 6.3 — Pickup request and scheduling</a:t>
            </a:r>
          </a:p>
        </p:txBody>
      </p:sp>
      <p:pic>
        <p:nvPicPr>
          <p:cNvPr id="8" name="Picture 7" descr="ac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516" y="1706880"/>
            <a:ext cx="3622117" cy="19751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07516" y="3755136"/>
            <a:ext cx="362211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6B6B7B"/>
                </a:solidFill>
                <a:latin typeface="Inter"/>
              </a:rPr>
              <a:t>Table 6.1 — Actors in the BCWCS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19" y="4023360"/>
            <a:ext cx="6230112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000000"/>
                </a:solidFill>
                <a:latin typeface="Inter Bold"/>
              </a:rPr>
              <a:t>Who is allowed to do what</a:t>
            </a:r>
          </a:p>
        </p:txBody>
      </p:sp>
      <p:sp>
        <p:nvSpPr>
          <p:cNvPr id="11" name="Oval 10"/>
          <p:cNvSpPr/>
          <p:nvPr/>
        </p:nvSpPr>
        <p:spPr>
          <a:xfrm>
            <a:off x="5303519" y="4425696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5498592" y="4364736"/>
            <a:ext cx="6035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Four human actors, three external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8592" y="4565904"/>
            <a:ext cx="6035040" cy="523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The external ones sit outside the boundary: we depend on them, we do not control them. Eleven modules on one page would be unreadable, so Section 6.0 gives an overview plus four diagrams by module.</a:t>
            </a:r>
          </a:p>
        </p:txBody>
      </p:sp>
      <p:sp>
        <p:nvSpPr>
          <p:cNvPr id="14" name="Oval 13"/>
          <p:cNvSpPr/>
          <p:nvPr/>
        </p:nvSpPr>
        <p:spPr>
          <a:xfrm>
            <a:off x="5303519" y="5415685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5498592" y="5354726"/>
            <a:ext cx="603504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Inter Bold"/>
              </a:rPr>
              <a:t>«include» means it always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8592" y="5555893"/>
            <a:ext cx="6035040" cy="523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>
                <a:solidFill>
                  <a:srgbClr val="272525"/>
                </a:solidFill>
                <a:latin typeface="Inter"/>
              </a:rPr>
              <a:t>Every one-time and recurring booking runs View Estimated Cost — the customer never confirms blind (FR21). Every staff approval runs Check Truck and Driver Availability, which is how FR26 and FR30 stop a double-booking.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536448"/>
            <a:ext cx="1048512" cy="292608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TextBox 2"/>
          <p:cNvSpPr txBox="1"/>
          <p:nvPr/>
        </p:nvSpPr>
        <p:spPr>
          <a:xfrm>
            <a:off x="658368" y="603505"/>
            <a:ext cx="10485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33" b="1">
                <a:solidFill>
                  <a:srgbClr val="4950BC"/>
                </a:solidFill>
                <a:latin typeface="Inter Bold"/>
              </a:rPr>
              <a:t>FAHAD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03505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 dirty="0">
                <a:solidFill>
                  <a:srgbClr val="6B6B7B"/>
                </a:solidFill>
                <a:latin typeface="Inter Bold"/>
              </a:rPr>
              <a:t>SRS SECTION 8.2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02208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Inter Bold"/>
              </a:rPr>
              <a:t>DFD Level 2 — Manage Pickup Requests &amp; Scheduling</a:t>
            </a:r>
          </a:p>
        </p:txBody>
      </p:sp>
      <p:pic>
        <p:nvPicPr>
          <p:cNvPr id="6" name="Picture 5" descr="d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468" y="1511808"/>
            <a:ext cx="6888761" cy="4706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07552" y="1560576"/>
            <a:ext cx="2926080" cy="2358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33" b="1">
                <a:solidFill>
                  <a:srgbClr val="000000"/>
                </a:solidFill>
                <a:latin typeface="Inter Bold"/>
              </a:rPr>
              <a:t>Where the data goes</a:t>
            </a:r>
          </a:p>
        </p:txBody>
      </p:sp>
      <p:sp>
        <p:nvSpPr>
          <p:cNvPr id="8" name="Oval 7"/>
          <p:cNvSpPr/>
          <p:nvPr/>
        </p:nvSpPr>
        <p:spPr>
          <a:xfrm>
            <a:off x="8607552" y="1962912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802625" y="1901953"/>
            <a:ext cx="2731007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000000"/>
                </a:solidFill>
                <a:latin typeface="Inter Bold"/>
              </a:rPr>
              <a:t>2.0 opened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2625" y="2103121"/>
            <a:ext cx="2731007" cy="328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7">
                <a:solidFill>
                  <a:srgbClr val="272525"/>
                </a:solidFill>
                <a:latin typeface="Inter"/>
              </a:rPr>
              <a:t>One box on the Level 1 diagram, exploded into six sub-processes, 2.1 to 2.6</a:t>
            </a:r>
          </a:p>
        </p:txBody>
      </p:sp>
      <p:sp>
        <p:nvSpPr>
          <p:cNvPr id="11" name="Oval 10"/>
          <p:cNvSpPr/>
          <p:nvPr/>
        </p:nvSpPr>
        <p:spPr>
          <a:xfrm>
            <a:off x="8607552" y="2940709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8802625" y="2879750"/>
            <a:ext cx="2731007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000000"/>
                </a:solidFill>
                <a:latin typeface="Inter Bold"/>
              </a:rPr>
              <a:t>The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2625" y="3080917"/>
            <a:ext cx="2731007" cy="492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7">
                <a:solidFill>
                  <a:srgbClr val="272525"/>
                </a:solidFill>
                <a:latin typeface="Inter"/>
              </a:rPr>
              <a:t>Create the request, schedule recurring, price it, staff approve, modify or cancel, then track status</a:t>
            </a:r>
          </a:p>
        </p:txBody>
      </p:sp>
      <p:sp>
        <p:nvSpPr>
          <p:cNvPr id="14" name="Oval 13"/>
          <p:cNvSpPr/>
          <p:nvPr/>
        </p:nvSpPr>
        <p:spPr>
          <a:xfrm>
            <a:off x="8607552" y="4080661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802625" y="4019702"/>
            <a:ext cx="2731007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000000"/>
                </a:solidFill>
                <a:latin typeface="Inter Bold"/>
              </a:rPr>
              <a:t>One data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2625" y="4220870"/>
            <a:ext cx="2731007" cy="328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7">
                <a:solidFill>
                  <a:srgbClr val="272525"/>
                </a:solidFill>
                <a:latin typeface="Inter"/>
              </a:rPr>
              <a:t>D2 Pickup Request Data — written to and read back at every stage</a:t>
            </a:r>
          </a:p>
        </p:txBody>
      </p:sp>
      <p:sp>
        <p:nvSpPr>
          <p:cNvPr id="17" name="Oval 16"/>
          <p:cNvSpPr/>
          <p:nvPr/>
        </p:nvSpPr>
        <p:spPr>
          <a:xfrm>
            <a:off x="8607552" y="4896307"/>
            <a:ext cx="85344" cy="85344"/>
          </a:xfrm>
          <a:prstGeom prst="ellipse">
            <a:avLst/>
          </a:prstGeom>
          <a:solidFill>
            <a:srgbClr val="495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8802625" y="4835348"/>
            <a:ext cx="2731007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>
                <a:solidFill>
                  <a:srgbClr val="000000"/>
                </a:solidFill>
                <a:latin typeface="Inter Bold"/>
              </a:rPr>
              <a:t>It balances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2625" y="5036515"/>
            <a:ext cx="2731007" cy="4926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7">
                <a:solidFill>
                  <a:srgbClr val="272525"/>
                </a:solidFill>
                <a:latin typeface="Inter"/>
              </a:rPr>
              <a:t>Every arrow crossing into or out of 2.0 on Level 1 appears here too — nothing enters and disappears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8609"/>
            <a:ext cx="108752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6B6B7B"/>
                </a:solidFill>
                <a:latin typeface="Inter"/>
              </a:rPr>
              <a:t>Feeds 3.0 Service Assignment &amp; Route Management with approved requests, and 5.0 Notifications &amp; Communication with approval and status updates.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9490" y="307332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dirty="0">
                <a:solidFill>
                  <a:srgbClr val="000000"/>
                </a:solidFill>
                <a:latin typeface="Inter Bold"/>
              </a:rPr>
              <a:t>DFD Level</a:t>
            </a:r>
            <a:r>
              <a:rPr lang="en-US" sz="2800" b="1" dirty="0">
                <a:solidFill>
                  <a:srgbClr val="000000"/>
                </a:solidFill>
                <a:latin typeface="Inter Bold"/>
              </a:rPr>
              <a:t> 0 </a:t>
            </a:r>
            <a:endParaRPr lang="en-AU" sz="2800" b="1" dirty="0">
              <a:latin typeface="Microsoft Tai Le" panose="020B0502040204020203" pitchFamily="34" charset="0"/>
              <a:cs typeface="Microsoft Tai Le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38719C-3D43-39EB-1B14-D13FF2B9E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32" y="831541"/>
            <a:ext cx="9454718" cy="5480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9490" y="792857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 dirty="0">
                <a:solidFill>
                  <a:srgbClr val="6B6B7B"/>
                </a:solidFill>
                <a:latin typeface="Inter Bold"/>
              </a:rPr>
              <a:t>SRS SECTION </a:t>
            </a:r>
            <a:r>
              <a:rPr lang="en-US" sz="1133" b="1" dirty="0">
                <a:solidFill>
                  <a:srgbClr val="6B6B7B"/>
                </a:solidFill>
                <a:latin typeface="Inter Bold"/>
              </a:rPr>
              <a:t>7</a:t>
            </a:r>
            <a:endParaRPr sz="1133" b="1" dirty="0">
              <a:solidFill>
                <a:srgbClr val="6B6B7B"/>
              </a:solidFill>
              <a:latin typeface="Inter Bold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847092" y="6312023"/>
            <a:ext cx="984690" cy="338159"/>
          </a:xfrm>
          <a:prstGeom prst="roundRect">
            <a:avLst/>
          </a:prstGeom>
          <a:solidFill>
            <a:srgbClr val="DAD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Debisha</a:t>
            </a:r>
            <a:endParaRPr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524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03588" y="92896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dirty="0">
                <a:solidFill>
                  <a:srgbClr val="000000"/>
                </a:solidFill>
                <a:latin typeface="Inter Bold"/>
              </a:rPr>
              <a:t>DFD Level</a:t>
            </a:r>
            <a:r>
              <a:rPr lang="en-US" sz="2800" b="1" dirty="0">
                <a:solidFill>
                  <a:srgbClr val="000000"/>
                </a:solidFill>
                <a:latin typeface="Inter Bold"/>
              </a:rPr>
              <a:t> 1</a:t>
            </a:r>
            <a:endParaRPr lang="en-AU" sz="2800" b="1" dirty="0">
              <a:latin typeface="Microsoft Tai Le" panose="020B0502040204020203" pitchFamily="34" charset="0"/>
              <a:cs typeface="Microsoft Tai Le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0"/>
          <a:stretch/>
        </p:blipFill>
        <p:spPr>
          <a:xfrm>
            <a:off x="257452" y="523783"/>
            <a:ext cx="11745158" cy="62302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7352" y="221168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 dirty="0">
                <a:solidFill>
                  <a:srgbClr val="6B6B7B"/>
                </a:solidFill>
                <a:latin typeface="Inter Bold"/>
              </a:rPr>
              <a:t>SRS SECTION 8.</a:t>
            </a:r>
            <a:r>
              <a:rPr lang="en-US" sz="1133" b="1" dirty="0">
                <a:solidFill>
                  <a:srgbClr val="6B6B7B"/>
                </a:solidFill>
                <a:latin typeface="Inter Bold"/>
              </a:rPr>
              <a:t>1</a:t>
            </a:r>
            <a:endParaRPr sz="1133" b="1" dirty="0">
              <a:solidFill>
                <a:srgbClr val="6B6B7B"/>
              </a:solidFill>
              <a:latin typeface="Inter Bold"/>
            </a:endParaRPr>
          </a:p>
        </p:txBody>
      </p:sp>
    </p:spTree>
    <p:extLst>
      <p:ext uri="{BB962C8B-B14F-4D97-AF65-F5344CB8AC3E}">
        <p14:creationId xmlns:p14="http://schemas.microsoft.com/office/powerpoint/2010/main" val="2985462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9490" y="307332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dirty="0">
                <a:solidFill>
                  <a:srgbClr val="000000"/>
                </a:solidFill>
                <a:latin typeface="Inter Bold"/>
              </a:rPr>
              <a:t>DFD Level 2 — </a:t>
            </a:r>
            <a:r>
              <a:rPr lang="en-AU" sz="2800" b="1" dirty="0">
                <a:latin typeface="Microsoft Tai Le" panose="020B0502040204020203" pitchFamily="34" charset="0"/>
                <a:cs typeface="Microsoft Tai Le" panose="020B0502040204020203" pitchFamily="34" charset="0"/>
              </a:rPr>
              <a:t>User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491" y="132988"/>
            <a:ext cx="5120640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33" b="1" dirty="0">
                <a:solidFill>
                  <a:srgbClr val="6B6B7B"/>
                </a:solidFill>
                <a:latin typeface="Inter Bold"/>
              </a:rPr>
              <a:t>SRS SECTION 8.2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17FF37-8CC0-7B8E-07D4-FE98C8A7C8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60"/>
          <a:stretch/>
        </p:blipFill>
        <p:spPr>
          <a:xfrm>
            <a:off x="761231" y="738219"/>
            <a:ext cx="9998505" cy="611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94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649" y="129851"/>
            <a:ext cx="108752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rgbClr val="000000"/>
                </a:solidFill>
                <a:latin typeface="Inter Bold"/>
              </a:rPr>
              <a:t>User Interface Design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49" y="560738"/>
            <a:ext cx="9008373" cy="603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790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65" y="299258"/>
            <a:ext cx="9692935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46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36" y="166255"/>
            <a:ext cx="9692935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400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61" y="182880"/>
            <a:ext cx="9692935" cy="637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23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30" y="182879"/>
            <a:ext cx="9692935" cy="644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73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54" y="299256"/>
            <a:ext cx="9692935" cy="640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29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07" y="282632"/>
            <a:ext cx="9692935" cy="634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65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03" y="282633"/>
            <a:ext cx="9692935" cy="657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71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81" y="232756"/>
            <a:ext cx="9692935" cy="637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4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30" y="149629"/>
            <a:ext cx="9692935" cy="649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0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196B250-5379-4BEC-B2C6-72DFDD0B8ED4}"/>
              </a:ext>
            </a:extLst>
          </p:cNvPr>
          <p:cNvSpPr>
            <a:spLocks noGrp="1"/>
          </p:cNvSpPr>
          <p:nvPr/>
        </p:nvSpPr>
        <p:spPr>
          <a:xfrm>
            <a:off x="660400" y="533401"/>
            <a:ext cx="1041400" cy="292100"/>
          </a:xfrm>
          <a:prstGeom prst="roundRect">
            <a:avLst>
              <a:gd name="adj" fmla="val 34783"/>
            </a:avLst>
          </a:prstGeom>
          <a:solidFill>
            <a:srgbClr val="E4E1F7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2ABCFE-1D27-4BD9-B8A8-2BCA7627BAF7}"/>
              </a:ext>
            </a:extLst>
          </p:cNvPr>
          <p:cNvSpPr>
            <a:spLocks noGrp="1"/>
          </p:cNvSpPr>
          <p:nvPr/>
        </p:nvSpPr>
        <p:spPr>
          <a:xfrm>
            <a:off x="787400" y="622301"/>
            <a:ext cx="7874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5556C9"/>
                </a:solidFill>
              </a:defRPr>
            </a:pPr>
            <a:r>
              <a:rPr sz="1100" b="1">
                <a:solidFill>
                  <a:srgbClr val="5556C9"/>
                </a:solidFill>
              </a:rPr>
              <a:t>FIZA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AC40F6-45BB-4600-8AF2-EAB9C25679B0}"/>
              </a:ext>
            </a:extLst>
          </p:cNvPr>
          <p:cNvSpPr>
            <a:spLocks noGrp="1"/>
          </p:cNvSpPr>
          <p:nvPr/>
        </p:nvSpPr>
        <p:spPr>
          <a:xfrm>
            <a:off x="1841500" y="622301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5656B"/>
                </a:solidFill>
              </a:defRPr>
            </a:pPr>
            <a:r>
              <a:rPr sz="1100" b="1">
                <a:solidFill>
                  <a:srgbClr val="65656B"/>
                </a:solidFill>
              </a:rPr>
              <a:t>SRS SECTION 5.1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7A2971-5A8E-44D4-83E7-0AF099E063F6}"/>
              </a:ext>
            </a:extLst>
          </p:cNvPr>
          <p:cNvSpPr>
            <a:spLocks noGrp="1"/>
          </p:cNvSpPr>
          <p:nvPr/>
        </p:nvSpPr>
        <p:spPr>
          <a:xfrm>
            <a:off x="660400" y="965200"/>
            <a:ext cx="108712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91919"/>
                </a:solidFill>
              </a:defRPr>
            </a:pPr>
            <a:r>
              <a:rPr sz="2800" b="1">
                <a:solidFill>
                  <a:srgbClr val="191919"/>
                </a:solidFill>
              </a:rPr>
              <a:t>UI Design — Driver &amp; Truck Management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4EAE0E-3032-40FE-A64E-BD2459242C45}"/>
              </a:ext>
            </a:extLst>
          </p:cNvPr>
          <p:cNvSpPr>
            <a:spLocks noGrp="1"/>
          </p:cNvSpPr>
          <p:nvPr/>
        </p:nvSpPr>
        <p:spPr>
          <a:xfrm>
            <a:off x="825501" y="1587501"/>
            <a:ext cx="4508500" cy="2603500"/>
          </a:xfrm>
          <a:prstGeom prst="roundRect">
            <a:avLst>
              <a:gd name="adj" fmla="val 3902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8CCCB2-24A6-4354-BD9A-DF5E0A649319}"/>
              </a:ext>
            </a:extLst>
          </p:cNvPr>
          <p:cNvSpPr>
            <a:spLocks noGrp="1"/>
          </p:cNvSpPr>
          <p:nvPr/>
        </p:nvSpPr>
        <p:spPr>
          <a:xfrm>
            <a:off x="6858001" y="1587501"/>
            <a:ext cx="4508500" cy="2603500"/>
          </a:xfrm>
          <a:prstGeom prst="roundRect">
            <a:avLst>
              <a:gd name="adj" fmla="val 3902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86467" y="1689100"/>
            <a:ext cx="2586567" cy="2387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8967" y="1689100"/>
            <a:ext cx="2586567" cy="2387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3AF8D3-F1ED-4215-8809-C432A9A5F1CF}"/>
              </a:ext>
            </a:extLst>
          </p:cNvPr>
          <p:cNvSpPr>
            <a:spLocks noGrp="1"/>
          </p:cNvSpPr>
          <p:nvPr/>
        </p:nvSpPr>
        <p:spPr>
          <a:xfrm>
            <a:off x="825501" y="4279900"/>
            <a:ext cx="450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Figure 5.1 — Driver management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BF77D5-3048-4969-8B4E-A116215F5432}"/>
              </a:ext>
            </a:extLst>
          </p:cNvPr>
          <p:cNvSpPr>
            <a:spLocks noGrp="1"/>
          </p:cNvSpPr>
          <p:nvPr/>
        </p:nvSpPr>
        <p:spPr>
          <a:xfrm>
            <a:off x="6858001" y="4279900"/>
            <a:ext cx="450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Figure 5.2 — Truck management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5D24B4-01A1-4EC3-980C-B8EC6CD469B6}"/>
              </a:ext>
            </a:extLst>
          </p:cNvPr>
          <p:cNvSpPr>
            <a:spLocks noGrp="1"/>
          </p:cNvSpPr>
          <p:nvPr/>
        </p:nvSpPr>
        <p:spPr>
          <a:xfrm>
            <a:off x="660400" y="49022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0CB93F-1713-44F2-A282-49BD78823EE9}"/>
              </a:ext>
            </a:extLst>
          </p:cNvPr>
          <p:cNvSpPr>
            <a:spLocks noGrp="1"/>
          </p:cNvSpPr>
          <p:nvPr/>
        </p:nvSpPr>
        <p:spPr>
          <a:xfrm>
            <a:off x="889000" y="48514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Driver records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AC666C-A000-4C89-A9A4-D82B758C32C4}"/>
              </a:ext>
            </a:extLst>
          </p:cNvPr>
          <p:cNvSpPr>
            <a:spLocks noGrp="1"/>
          </p:cNvSpPr>
          <p:nvPr/>
        </p:nvSpPr>
        <p:spPr>
          <a:xfrm>
            <a:off x="889000" y="5194301"/>
            <a:ext cx="3200400" cy="77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Licence, contact and availability details are maintained before assignment. FR27–FR28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7C1329-2331-4D54-A606-CFAA444207F2}"/>
              </a:ext>
            </a:extLst>
          </p:cNvPr>
          <p:cNvSpPr>
            <a:spLocks noGrp="1"/>
          </p:cNvSpPr>
          <p:nvPr/>
        </p:nvSpPr>
        <p:spPr>
          <a:xfrm>
            <a:off x="4381500" y="49022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C4DC3E-F573-4485-A852-B8744B91D543}"/>
              </a:ext>
            </a:extLst>
          </p:cNvPr>
          <p:cNvSpPr>
            <a:spLocks noGrp="1"/>
          </p:cNvSpPr>
          <p:nvPr/>
        </p:nvSpPr>
        <p:spPr>
          <a:xfrm>
            <a:off x="4610100" y="48514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Truck records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EF359F-3178-4A8C-96C5-351AA2ED87DC}"/>
              </a:ext>
            </a:extLst>
          </p:cNvPr>
          <p:cNvSpPr>
            <a:spLocks noGrp="1"/>
          </p:cNvSpPr>
          <p:nvPr/>
        </p:nvSpPr>
        <p:spPr>
          <a:xfrm>
            <a:off x="4610100" y="5194301"/>
            <a:ext cx="3200400" cy="77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Registration, vehicle type and capacity support dispatch decisions. FR29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1CC675-A97A-497E-95FE-3C85AE4942F9}"/>
              </a:ext>
            </a:extLst>
          </p:cNvPr>
          <p:cNvSpPr>
            <a:spLocks noGrp="1"/>
          </p:cNvSpPr>
          <p:nvPr/>
        </p:nvSpPr>
        <p:spPr>
          <a:xfrm>
            <a:off x="8102600" y="49022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E2CA92-FF07-400F-B7B5-849AC401B17C}"/>
              </a:ext>
            </a:extLst>
          </p:cNvPr>
          <p:cNvSpPr>
            <a:spLocks noGrp="1"/>
          </p:cNvSpPr>
          <p:nvPr/>
        </p:nvSpPr>
        <p:spPr>
          <a:xfrm>
            <a:off x="8331200" y="48514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Capacity control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2FBFC2-A7A9-46C0-814A-99522DC887E2}"/>
              </a:ext>
            </a:extLst>
          </p:cNvPr>
          <p:cNvSpPr>
            <a:spLocks noGrp="1"/>
          </p:cNvSpPr>
          <p:nvPr/>
        </p:nvSpPr>
        <p:spPr>
          <a:xfrm>
            <a:off x="8331200" y="5194301"/>
            <a:ext cx="3200400" cy="774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Expected waste load is checked against the selected truck. FR30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B20EDA-C98D-4747-B8A0-63E9C46E429F}"/>
              </a:ext>
            </a:extLst>
          </p:cNvPr>
          <p:cNvSpPr>
            <a:spLocks noGrp="1"/>
          </p:cNvSpPr>
          <p:nvPr/>
        </p:nvSpPr>
        <p:spPr>
          <a:xfrm>
            <a:off x="660400" y="6413500"/>
            <a:ext cx="1087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8A8A91"/>
                </a:solidFill>
              </a:defRPr>
            </a:pPr>
            <a:r>
              <a:rPr sz="900">
                <a:solidFill>
                  <a:srgbClr val="8A8A91"/>
                </a:solidFill>
              </a:rPr>
              <a:t>Together, these screens provide verified resource data for daily assignment and route planning.</a:t>
            </a:r>
          </a:p>
        </p:txBody>
      </p:sp>
    </p:spTree>
    <p:extLst>
      <p:ext uri="{BB962C8B-B14F-4D97-AF65-F5344CB8AC3E}">
        <p14:creationId xmlns:p14="http://schemas.microsoft.com/office/powerpoint/2010/main" val="1601406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A796AFA-5902-46CE-B982-CAD514D576E6}"/>
              </a:ext>
            </a:extLst>
          </p:cNvPr>
          <p:cNvSpPr>
            <a:spLocks noGrp="1"/>
          </p:cNvSpPr>
          <p:nvPr/>
        </p:nvSpPr>
        <p:spPr>
          <a:xfrm>
            <a:off x="660400" y="533401"/>
            <a:ext cx="1041400" cy="292100"/>
          </a:xfrm>
          <a:prstGeom prst="roundRect">
            <a:avLst>
              <a:gd name="adj" fmla="val 34783"/>
            </a:avLst>
          </a:prstGeom>
          <a:solidFill>
            <a:srgbClr val="E4E1F7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F78C09-EA0D-4F42-9EB6-85C6993D2095}"/>
              </a:ext>
            </a:extLst>
          </p:cNvPr>
          <p:cNvSpPr>
            <a:spLocks noGrp="1"/>
          </p:cNvSpPr>
          <p:nvPr/>
        </p:nvSpPr>
        <p:spPr>
          <a:xfrm>
            <a:off x="787400" y="622301"/>
            <a:ext cx="7874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5556C9"/>
                </a:solidFill>
              </a:defRPr>
            </a:pPr>
            <a:r>
              <a:rPr sz="1100" b="1">
                <a:solidFill>
                  <a:srgbClr val="5556C9"/>
                </a:solidFill>
              </a:rPr>
              <a:t>FIZA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AD980-0285-451A-A2E1-5F567D147DBF}"/>
              </a:ext>
            </a:extLst>
          </p:cNvPr>
          <p:cNvSpPr>
            <a:spLocks noGrp="1"/>
          </p:cNvSpPr>
          <p:nvPr/>
        </p:nvSpPr>
        <p:spPr>
          <a:xfrm>
            <a:off x="1841500" y="622301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5656B"/>
                </a:solidFill>
              </a:defRPr>
            </a:pPr>
            <a:r>
              <a:rPr sz="1100" b="1">
                <a:solidFill>
                  <a:srgbClr val="65656B"/>
                </a:solidFill>
              </a:rPr>
              <a:t>SRS SECTION 5.1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7BDD27-26A0-4AFC-80BA-42B3F465C859}"/>
              </a:ext>
            </a:extLst>
          </p:cNvPr>
          <p:cNvSpPr>
            <a:spLocks noGrp="1"/>
          </p:cNvSpPr>
          <p:nvPr/>
        </p:nvSpPr>
        <p:spPr>
          <a:xfrm>
            <a:off x="660400" y="965200"/>
            <a:ext cx="108712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91919"/>
                </a:solidFill>
              </a:defRPr>
            </a:pPr>
            <a:r>
              <a:rPr sz="2800" b="1">
                <a:solidFill>
                  <a:srgbClr val="191919"/>
                </a:solidFill>
              </a:rPr>
              <a:t>UI Design — Driver Dashboard &amp; Assignment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49F0B3-5472-46ED-9D1C-699C238F72DA}"/>
              </a:ext>
            </a:extLst>
          </p:cNvPr>
          <p:cNvSpPr>
            <a:spLocks noGrp="1"/>
          </p:cNvSpPr>
          <p:nvPr/>
        </p:nvSpPr>
        <p:spPr>
          <a:xfrm>
            <a:off x="685800" y="1549400"/>
            <a:ext cx="4572000" cy="4445000"/>
          </a:xfrm>
          <a:prstGeom prst="roundRect">
            <a:avLst>
              <a:gd name="adj" fmla="val 2286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800" y="1766278"/>
            <a:ext cx="4318000" cy="39858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76517A1-1150-41E3-BC50-0F904434F130}"/>
              </a:ext>
            </a:extLst>
          </p:cNvPr>
          <p:cNvSpPr>
            <a:spLocks noGrp="1"/>
          </p:cNvSpPr>
          <p:nvPr/>
        </p:nvSpPr>
        <p:spPr>
          <a:xfrm>
            <a:off x="5778500" y="1574800"/>
            <a:ext cx="5461000" cy="33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91919"/>
                </a:solidFill>
              </a:defRPr>
            </a:pPr>
            <a:r>
              <a:rPr sz="1600" b="1">
                <a:solidFill>
                  <a:srgbClr val="191919"/>
                </a:solidFill>
              </a:rPr>
              <a:t>Why the dashboard is organised this way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3A7B70-B531-4D32-BFE5-5CF94C1D2E03}"/>
              </a:ext>
            </a:extLst>
          </p:cNvPr>
          <p:cNvSpPr>
            <a:spLocks noGrp="1"/>
          </p:cNvSpPr>
          <p:nvPr/>
        </p:nvSpPr>
        <p:spPr>
          <a:xfrm>
            <a:off x="5778500" y="21463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8322D5-BD62-4AB8-BB99-DB8587C9F728}"/>
              </a:ext>
            </a:extLst>
          </p:cNvPr>
          <p:cNvSpPr>
            <a:spLocks noGrp="1"/>
          </p:cNvSpPr>
          <p:nvPr/>
        </p:nvSpPr>
        <p:spPr>
          <a:xfrm>
            <a:off x="6007100" y="2095500"/>
            <a:ext cx="5232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Daily work at a glance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A74685-011B-497F-95A2-518379D5E8E0}"/>
              </a:ext>
            </a:extLst>
          </p:cNvPr>
          <p:cNvSpPr>
            <a:spLocks noGrp="1"/>
          </p:cNvSpPr>
          <p:nvPr/>
        </p:nvSpPr>
        <p:spPr>
          <a:xfrm>
            <a:off x="6007100" y="2438400"/>
            <a:ext cx="5232400" cy="48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Today's jobs, completed pickups, pending work and issues appear in one view. FR31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054135-AEC6-4A51-9195-FC45B6DC58C7}"/>
              </a:ext>
            </a:extLst>
          </p:cNvPr>
          <p:cNvSpPr>
            <a:spLocks noGrp="1"/>
          </p:cNvSpPr>
          <p:nvPr/>
        </p:nvSpPr>
        <p:spPr>
          <a:xfrm>
            <a:off x="5778500" y="30353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0DD44A-8647-4DC7-8810-8D3F1319DD6D}"/>
              </a:ext>
            </a:extLst>
          </p:cNvPr>
          <p:cNvSpPr>
            <a:spLocks noGrp="1"/>
          </p:cNvSpPr>
          <p:nvPr/>
        </p:nvSpPr>
        <p:spPr>
          <a:xfrm>
            <a:off x="6007100" y="2984500"/>
            <a:ext cx="5232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One clear schedule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316EFC-0A5F-4F3E-9B40-A82D9C480959}"/>
              </a:ext>
            </a:extLst>
          </p:cNvPr>
          <p:cNvSpPr>
            <a:spLocks noGrp="1"/>
          </p:cNvSpPr>
          <p:nvPr/>
        </p:nvSpPr>
        <p:spPr>
          <a:xfrm>
            <a:off x="6007100" y="3327400"/>
            <a:ext cx="5232400" cy="48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Customer, address, time and status stay together for quick scanning.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57122B1-68A8-4C45-AF14-88AED15E6471}"/>
              </a:ext>
            </a:extLst>
          </p:cNvPr>
          <p:cNvSpPr>
            <a:spLocks noGrp="1"/>
          </p:cNvSpPr>
          <p:nvPr/>
        </p:nvSpPr>
        <p:spPr>
          <a:xfrm>
            <a:off x="5778500" y="39243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82949B-96F6-4CC5-AD3B-10A1710319C8}"/>
              </a:ext>
            </a:extLst>
          </p:cNvPr>
          <p:cNvSpPr>
            <a:spLocks noGrp="1"/>
          </p:cNvSpPr>
          <p:nvPr/>
        </p:nvSpPr>
        <p:spPr>
          <a:xfrm>
            <a:off x="6007100" y="3873500"/>
            <a:ext cx="5232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Assignment notification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9743D8-3A7C-4193-A87C-1E651AD35744}"/>
              </a:ext>
            </a:extLst>
          </p:cNvPr>
          <p:cNvSpPr>
            <a:spLocks noGrp="1"/>
          </p:cNvSpPr>
          <p:nvPr/>
        </p:nvSpPr>
        <p:spPr>
          <a:xfrm>
            <a:off x="6007100" y="4216400"/>
            <a:ext cx="5232400" cy="48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Pickup, selected truck and schedule details reach the driver directly. FR33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CC23324-CAF2-49FA-B91F-DBFD5D89E686}"/>
              </a:ext>
            </a:extLst>
          </p:cNvPr>
          <p:cNvSpPr>
            <a:spLocks noGrp="1"/>
          </p:cNvSpPr>
          <p:nvPr/>
        </p:nvSpPr>
        <p:spPr>
          <a:xfrm>
            <a:off x="5778500" y="48133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1840F2-D292-4C92-B2DA-CA574FE7CD23}"/>
              </a:ext>
            </a:extLst>
          </p:cNvPr>
          <p:cNvSpPr>
            <a:spLocks noGrp="1"/>
          </p:cNvSpPr>
          <p:nvPr/>
        </p:nvSpPr>
        <p:spPr>
          <a:xfrm>
            <a:off x="6007100" y="4762500"/>
            <a:ext cx="5232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Direct status updates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7DC452-9E77-4791-A3DE-E8BFB008B612}"/>
              </a:ext>
            </a:extLst>
          </p:cNvPr>
          <p:cNvSpPr>
            <a:spLocks noGrp="1"/>
          </p:cNvSpPr>
          <p:nvPr/>
        </p:nvSpPr>
        <p:spPr>
          <a:xfrm>
            <a:off x="6007100" y="5105400"/>
            <a:ext cx="5232400" cy="48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En-route, Arrived, Collected, Missed and Issue are available in the workflow. FR32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05F9AE-4505-4DA4-A9F0-FFECFE99DD54}"/>
              </a:ext>
            </a:extLst>
          </p:cNvPr>
          <p:cNvSpPr>
            <a:spLocks noGrp="1"/>
          </p:cNvSpPr>
          <p:nvPr/>
        </p:nvSpPr>
        <p:spPr>
          <a:xfrm>
            <a:off x="660400" y="6413500"/>
            <a:ext cx="1087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8A8A91"/>
                </a:solidFill>
              </a:defRPr>
            </a:pPr>
            <a:r>
              <a:rPr sz="900">
                <a:solidFill>
                  <a:srgbClr val="8A8A91"/>
                </a:solidFill>
              </a:rPr>
              <a:t>Driver Dashboard, Update Pickup Status and Driver Assignment Notification were wireframed in Balsamiq Cloud.</a:t>
            </a:r>
          </a:p>
        </p:txBody>
      </p:sp>
    </p:spTree>
    <p:extLst>
      <p:ext uri="{BB962C8B-B14F-4D97-AF65-F5344CB8AC3E}">
        <p14:creationId xmlns:p14="http://schemas.microsoft.com/office/powerpoint/2010/main" val="1450004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186729-1D79-48C9-B587-EE9591361A98}"/>
              </a:ext>
            </a:extLst>
          </p:cNvPr>
          <p:cNvSpPr>
            <a:spLocks noGrp="1"/>
          </p:cNvSpPr>
          <p:nvPr/>
        </p:nvSpPr>
        <p:spPr>
          <a:xfrm>
            <a:off x="660400" y="533401"/>
            <a:ext cx="1041400" cy="292100"/>
          </a:xfrm>
          <a:prstGeom prst="roundRect">
            <a:avLst>
              <a:gd name="adj" fmla="val 34783"/>
            </a:avLst>
          </a:prstGeom>
          <a:solidFill>
            <a:srgbClr val="E4E1F7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F89E0A-18A2-45C6-80AE-274B5CD9263B}"/>
              </a:ext>
            </a:extLst>
          </p:cNvPr>
          <p:cNvSpPr>
            <a:spLocks noGrp="1"/>
          </p:cNvSpPr>
          <p:nvPr/>
        </p:nvSpPr>
        <p:spPr>
          <a:xfrm>
            <a:off x="787400" y="622301"/>
            <a:ext cx="7874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5556C9"/>
                </a:solidFill>
              </a:defRPr>
            </a:pPr>
            <a:r>
              <a:rPr sz="1100" b="1">
                <a:solidFill>
                  <a:srgbClr val="5556C9"/>
                </a:solidFill>
              </a:rPr>
              <a:t>FIZA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ECCF10-7CB1-4F82-A708-FDE6F74954FC}"/>
              </a:ext>
            </a:extLst>
          </p:cNvPr>
          <p:cNvSpPr>
            <a:spLocks noGrp="1"/>
          </p:cNvSpPr>
          <p:nvPr/>
        </p:nvSpPr>
        <p:spPr>
          <a:xfrm>
            <a:off x="1841500" y="622301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5656B"/>
                </a:solidFill>
              </a:defRPr>
            </a:pPr>
            <a:r>
              <a:rPr sz="1100" b="1">
                <a:solidFill>
                  <a:srgbClr val="65656B"/>
                </a:solidFill>
              </a:rPr>
              <a:t>SRS SECTION 5.1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FE1AA-D359-4B2D-BD03-58FBC37EC1A6}"/>
              </a:ext>
            </a:extLst>
          </p:cNvPr>
          <p:cNvSpPr>
            <a:spLocks noGrp="1"/>
          </p:cNvSpPr>
          <p:nvPr/>
        </p:nvSpPr>
        <p:spPr>
          <a:xfrm>
            <a:off x="660400" y="965200"/>
            <a:ext cx="108712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91919"/>
                </a:solidFill>
              </a:defRPr>
            </a:pPr>
            <a:r>
              <a:rPr sz="2800" b="1">
                <a:solidFill>
                  <a:srgbClr val="191919"/>
                </a:solidFill>
              </a:rPr>
              <a:t>UI Design — Map View &amp; Smart Route Planning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FEC13F-364C-43FF-A552-E2B537A7FEB6}"/>
              </a:ext>
            </a:extLst>
          </p:cNvPr>
          <p:cNvSpPr>
            <a:spLocks noGrp="1"/>
          </p:cNvSpPr>
          <p:nvPr/>
        </p:nvSpPr>
        <p:spPr>
          <a:xfrm>
            <a:off x="711200" y="1587500"/>
            <a:ext cx="4826000" cy="2921000"/>
          </a:xfrm>
          <a:prstGeom prst="roundRect">
            <a:avLst>
              <a:gd name="adj" fmla="val 3478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960FCC-1238-4E2D-A97B-E6656FE79E0D}"/>
              </a:ext>
            </a:extLst>
          </p:cNvPr>
          <p:cNvSpPr>
            <a:spLocks noGrp="1"/>
          </p:cNvSpPr>
          <p:nvPr/>
        </p:nvSpPr>
        <p:spPr>
          <a:xfrm>
            <a:off x="6654800" y="1587500"/>
            <a:ext cx="4826000" cy="2921000"/>
          </a:xfrm>
          <a:prstGeom prst="roundRect">
            <a:avLst>
              <a:gd name="adj" fmla="val 3478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65818" y="1689100"/>
            <a:ext cx="2916767" cy="26924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609418" y="1689100"/>
            <a:ext cx="2916767" cy="2692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B008CD-5D81-4FDF-A465-522E5AC46E69}"/>
              </a:ext>
            </a:extLst>
          </p:cNvPr>
          <p:cNvSpPr>
            <a:spLocks noGrp="1"/>
          </p:cNvSpPr>
          <p:nvPr/>
        </p:nvSpPr>
        <p:spPr>
          <a:xfrm>
            <a:off x="711200" y="4584700"/>
            <a:ext cx="482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Figure 5.3 — Customer map 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D0D867-AAF7-45DC-9A29-0EAC1F566E69}"/>
              </a:ext>
            </a:extLst>
          </p:cNvPr>
          <p:cNvSpPr>
            <a:spLocks noGrp="1"/>
          </p:cNvSpPr>
          <p:nvPr/>
        </p:nvSpPr>
        <p:spPr>
          <a:xfrm>
            <a:off x="6654800" y="4584700"/>
            <a:ext cx="482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Figure 5.4 — Smart route planning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2269D9-CD79-47A8-961B-1E50E69EFF5A}"/>
              </a:ext>
            </a:extLst>
          </p:cNvPr>
          <p:cNvSpPr>
            <a:spLocks noGrp="1"/>
          </p:cNvSpPr>
          <p:nvPr/>
        </p:nvSpPr>
        <p:spPr>
          <a:xfrm>
            <a:off x="1206500" y="52197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B0B6A5-5033-4391-B182-EE484F4B279E}"/>
              </a:ext>
            </a:extLst>
          </p:cNvPr>
          <p:cNvSpPr>
            <a:spLocks noGrp="1"/>
          </p:cNvSpPr>
          <p:nvPr/>
        </p:nvSpPr>
        <p:spPr>
          <a:xfrm>
            <a:off x="1435100" y="5168900"/>
            <a:ext cx="4343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Map keeps location and schedule together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AE3309-5934-4B5C-AAB6-BDCA097AE31D}"/>
              </a:ext>
            </a:extLst>
          </p:cNvPr>
          <p:cNvSpPr>
            <a:spLocks noGrp="1"/>
          </p:cNvSpPr>
          <p:nvPr/>
        </p:nvSpPr>
        <p:spPr>
          <a:xfrm>
            <a:off x="1435100" y="5511801"/>
            <a:ext cx="4343400" cy="62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Customer locations, upcoming pickups and current status appear on one screen. FR34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B048BE-9B5B-4B1B-9075-C55A94C2E8FC}"/>
              </a:ext>
            </a:extLst>
          </p:cNvPr>
          <p:cNvSpPr>
            <a:spLocks noGrp="1"/>
          </p:cNvSpPr>
          <p:nvPr/>
        </p:nvSpPr>
        <p:spPr>
          <a:xfrm>
            <a:off x="6413500" y="52197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12CD0-3573-4C79-9B12-3307E877F35B}"/>
              </a:ext>
            </a:extLst>
          </p:cNvPr>
          <p:cNvSpPr>
            <a:spLocks noGrp="1"/>
          </p:cNvSpPr>
          <p:nvPr/>
        </p:nvSpPr>
        <p:spPr>
          <a:xfrm>
            <a:off x="6642100" y="5168900"/>
            <a:ext cx="4343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Optimised route supports the daily run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F8DDFD-28E9-44D2-BCA2-328FEECE3C52}"/>
              </a:ext>
            </a:extLst>
          </p:cNvPr>
          <p:cNvSpPr>
            <a:spLocks noGrp="1"/>
          </p:cNvSpPr>
          <p:nvPr/>
        </p:nvSpPr>
        <p:spPr>
          <a:xfrm>
            <a:off x="6642100" y="5511801"/>
            <a:ext cx="4343400" cy="62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Confirmed pickups form a practical sequence, with address-list fallback. FR35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EE4679-1445-4DA5-8A84-C80E91C7246B}"/>
              </a:ext>
            </a:extLst>
          </p:cNvPr>
          <p:cNvSpPr>
            <a:spLocks noGrp="1"/>
          </p:cNvSpPr>
          <p:nvPr/>
        </p:nvSpPr>
        <p:spPr>
          <a:xfrm>
            <a:off x="660400" y="6413500"/>
            <a:ext cx="1087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8A8A91"/>
                </a:solidFill>
              </a:defRPr>
            </a:pPr>
            <a:r>
              <a:rPr sz="900">
                <a:solidFill>
                  <a:srgbClr val="8A8A91"/>
                </a:solidFill>
              </a:rPr>
              <a:t>The route screens connect confirmed bookings to field navigation and live pickup progress.</a:t>
            </a:r>
          </a:p>
        </p:txBody>
      </p:sp>
    </p:spTree>
    <p:extLst>
      <p:ext uri="{BB962C8B-B14F-4D97-AF65-F5344CB8AC3E}">
        <p14:creationId xmlns:p14="http://schemas.microsoft.com/office/powerpoint/2010/main" val="117047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C7A54D0-7132-43D0-AF51-11AB36786B69}"/>
              </a:ext>
            </a:extLst>
          </p:cNvPr>
          <p:cNvSpPr>
            <a:spLocks noGrp="1"/>
          </p:cNvSpPr>
          <p:nvPr/>
        </p:nvSpPr>
        <p:spPr>
          <a:xfrm>
            <a:off x="660400" y="533401"/>
            <a:ext cx="1041400" cy="292100"/>
          </a:xfrm>
          <a:prstGeom prst="roundRect">
            <a:avLst>
              <a:gd name="adj" fmla="val 34783"/>
            </a:avLst>
          </a:prstGeom>
          <a:solidFill>
            <a:srgbClr val="E4E1F7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959C2E-4014-4C0F-99C8-022A6097676E}"/>
              </a:ext>
            </a:extLst>
          </p:cNvPr>
          <p:cNvSpPr>
            <a:spLocks noGrp="1"/>
          </p:cNvSpPr>
          <p:nvPr/>
        </p:nvSpPr>
        <p:spPr>
          <a:xfrm>
            <a:off x="787400" y="622301"/>
            <a:ext cx="7874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5556C9"/>
                </a:solidFill>
              </a:defRPr>
            </a:pPr>
            <a:r>
              <a:rPr sz="1100" b="1">
                <a:solidFill>
                  <a:srgbClr val="5556C9"/>
                </a:solidFill>
              </a:rPr>
              <a:t>FIZA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0BA560-63D7-4E16-A4A0-0F70D78DF230}"/>
              </a:ext>
            </a:extLst>
          </p:cNvPr>
          <p:cNvSpPr>
            <a:spLocks noGrp="1"/>
          </p:cNvSpPr>
          <p:nvPr/>
        </p:nvSpPr>
        <p:spPr>
          <a:xfrm>
            <a:off x="1841500" y="622301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5656B"/>
                </a:solidFill>
              </a:defRPr>
            </a:pPr>
            <a:r>
              <a:rPr sz="1100" b="1" dirty="0">
                <a:solidFill>
                  <a:srgbClr val="65656B"/>
                </a:solidFill>
              </a:rPr>
              <a:t>SRS SECTION 8.2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CA424D-4A54-4C77-8788-D58A5A5768A4}"/>
              </a:ext>
            </a:extLst>
          </p:cNvPr>
          <p:cNvSpPr>
            <a:spLocks noGrp="1"/>
          </p:cNvSpPr>
          <p:nvPr/>
        </p:nvSpPr>
        <p:spPr>
          <a:xfrm>
            <a:off x="660400" y="965200"/>
            <a:ext cx="108712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91919"/>
                </a:solidFill>
              </a:defRPr>
            </a:pPr>
            <a:r>
              <a:rPr sz="2800" b="1">
                <a:solidFill>
                  <a:srgbClr val="191919"/>
                </a:solidFill>
              </a:rPr>
              <a:t>DFD Level 2 — Service Assignment &amp; Route Management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0056A0-75FC-4C91-800B-B3763485D7F9}"/>
              </a:ext>
            </a:extLst>
          </p:cNvPr>
          <p:cNvSpPr>
            <a:spLocks noGrp="1"/>
          </p:cNvSpPr>
          <p:nvPr/>
        </p:nvSpPr>
        <p:spPr>
          <a:xfrm>
            <a:off x="660400" y="1549401"/>
            <a:ext cx="7620000" cy="4508500"/>
          </a:xfrm>
          <a:prstGeom prst="roundRect">
            <a:avLst>
              <a:gd name="adj" fmla="val 2254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1426" y="1651001"/>
            <a:ext cx="6457951" cy="43053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03D94B1-E3D8-43AD-96B2-395CEBD105B9}"/>
              </a:ext>
            </a:extLst>
          </p:cNvPr>
          <p:cNvSpPr>
            <a:spLocks noGrp="1"/>
          </p:cNvSpPr>
          <p:nvPr/>
        </p:nvSpPr>
        <p:spPr>
          <a:xfrm>
            <a:off x="8636000" y="1562100"/>
            <a:ext cx="2895600" cy="35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91919"/>
                </a:solidFill>
              </a:defRPr>
            </a:pPr>
            <a:r>
              <a:rPr sz="1600" b="1">
                <a:solidFill>
                  <a:srgbClr val="191919"/>
                </a:solidFill>
              </a:rPr>
              <a:t>How data moves through the module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98EB65-F725-4AAE-A126-3D46D8D595E8}"/>
              </a:ext>
            </a:extLst>
          </p:cNvPr>
          <p:cNvSpPr>
            <a:spLocks noGrp="1"/>
          </p:cNvSpPr>
          <p:nvPr/>
        </p:nvSpPr>
        <p:spPr>
          <a:xfrm>
            <a:off x="8636000" y="21463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F5CC1F-08DC-4162-9971-0A0F5AF32F71}"/>
              </a:ext>
            </a:extLst>
          </p:cNvPr>
          <p:cNvSpPr>
            <a:spLocks noGrp="1"/>
          </p:cNvSpPr>
          <p:nvPr/>
        </p:nvSpPr>
        <p:spPr>
          <a:xfrm>
            <a:off x="8864600" y="2095500"/>
            <a:ext cx="2667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3.0 opened 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8BAE31-AFB1-45F0-93D6-92C9B3E722AC}"/>
              </a:ext>
            </a:extLst>
          </p:cNvPr>
          <p:cNvSpPr>
            <a:spLocks noGrp="1"/>
          </p:cNvSpPr>
          <p:nvPr/>
        </p:nvSpPr>
        <p:spPr>
          <a:xfrm>
            <a:off x="8864600" y="2438401"/>
            <a:ext cx="26670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Six sub-processes cover assignment through real-time updates.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DA4847-35D6-4C54-83E6-C11674B61266}"/>
              </a:ext>
            </a:extLst>
          </p:cNvPr>
          <p:cNvSpPr>
            <a:spLocks noGrp="1"/>
          </p:cNvSpPr>
          <p:nvPr/>
        </p:nvSpPr>
        <p:spPr>
          <a:xfrm>
            <a:off x="8636000" y="31242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B9E6C3-97F4-4EF0-9CCB-A16854F29419}"/>
              </a:ext>
            </a:extLst>
          </p:cNvPr>
          <p:cNvSpPr>
            <a:spLocks noGrp="1"/>
          </p:cNvSpPr>
          <p:nvPr/>
        </p:nvSpPr>
        <p:spPr>
          <a:xfrm>
            <a:off x="8864600" y="3073400"/>
            <a:ext cx="2667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Assignment &amp; capacity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43873F-1287-493A-B2D3-9F26F2188208}"/>
              </a:ext>
            </a:extLst>
          </p:cNvPr>
          <p:cNvSpPr>
            <a:spLocks noGrp="1"/>
          </p:cNvSpPr>
          <p:nvPr/>
        </p:nvSpPr>
        <p:spPr>
          <a:xfrm>
            <a:off x="8864600" y="3416301"/>
            <a:ext cx="26670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D3 data supports driver, truck and capacity checks.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4A34C4-44F9-4AF7-B5CF-31FC8599E162}"/>
              </a:ext>
            </a:extLst>
          </p:cNvPr>
          <p:cNvSpPr>
            <a:spLocks noGrp="1"/>
          </p:cNvSpPr>
          <p:nvPr/>
        </p:nvSpPr>
        <p:spPr>
          <a:xfrm>
            <a:off x="8636000" y="41021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8DF781-F567-48CB-8F44-B7107CFD8DD4}"/>
              </a:ext>
            </a:extLst>
          </p:cNvPr>
          <p:cNvSpPr>
            <a:spLocks noGrp="1"/>
          </p:cNvSpPr>
          <p:nvPr/>
        </p:nvSpPr>
        <p:spPr>
          <a:xfrm>
            <a:off x="8864600" y="4051300"/>
            <a:ext cx="2667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Route &amp; status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D42CB7-E522-41BA-A6E9-ED0BE5BB9C34}"/>
              </a:ext>
            </a:extLst>
          </p:cNvPr>
          <p:cNvSpPr>
            <a:spLocks noGrp="1"/>
          </p:cNvSpPr>
          <p:nvPr/>
        </p:nvSpPr>
        <p:spPr>
          <a:xfrm>
            <a:off x="8864600" y="4394201"/>
            <a:ext cx="26670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Approved pickups become schedules, routes and status updates.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190F01-CC9B-4EA9-9AFE-BB8BFA485E72}"/>
              </a:ext>
            </a:extLst>
          </p:cNvPr>
          <p:cNvSpPr>
            <a:spLocks noGrp="1"/>
          </p:cNvSpPr>
          <p:nvPr/>
        </p:nvSpPr>
        <p:spPr>
          <a:xfrm>
            <a:off x="8636000" y="50800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798EA6-48F8-4C6F-B4DB-8956810635D1}"/>
              </a:ext>
            </a:extLst>
          </p:cNvPr>
          <p:cNvSpPr>
            <a:spLocks noGrp="1"/>
          </p:cNvSpPr>
          <p:nvPr/>
        </p:nvSpPr>
        <p:spPr>
          <a:xfrm>
            <a:off x="8864600" y="5029200"/>
            <a:ext cx="26670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Balanced flow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BBFB84-621C-4536-A699-DBBEE50CDEA0}"/>
              </a:ext>
            </a:extLst>
          </p:cNvPr>
          <p:cNvSpPr>
            <a:spLocks noGrp="1"/>
          </p:cNvSpPr>
          <p:nvPr/>
        </p:nvSpPr>
        <p:spPr>
          <a:xfrm>
            <a:off x="8864600" y="5372101"/>
            <a:ext cx="2667000" cy="54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Staff, Driver, Admin, Map, Booking and Billing remain connected.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76F0DE-2057-478F-A598-2D4F42D103CB}"/>
              </a:ext>
            </a:extLst>
          </p:cNvPr>
          <p:cNvSpPr>
            <a:spLocks noGrp="1"/>
          </p:cNvSpPr>
          <p:nvPr/>
        </p:nvSpPr>
        <p:spPr>
          <a:xfrm>
            <a:off x="660400" y="6413500"/>
            <a:ext cx="1087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8A8A91"/>
                </a:solidFill>
              </a:defRPr>
            </a:pPr>
            <a:r>
              <a:rPr sz="900">
                <a:solidFill>
                  <a:srgbClr val="8A8A91"/>
                </a:solidFill>
              </a:rPr>
              <a:t>D3 stores driver, truck and schedule data; completed services feed Payment &amp; Billing.</a:t>
            </a:r>
          </a:p>
        </p:txBody>
      </p:sp>
    </p:spTree>
    <p:extLst>
      <p:ext uri="{BB962C8B-B14F-4D97-AF65-F5344CB8AC3E}">
        <p14:creationId xmlns:p14="http://schemas.microsoft.com/office/powerpoint/2010/main" val="1961969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B2FFA02-3CB1-409E-A221-9821E35B916C}"/>
              </a:ext>
            </a:extLst>
          </p:cNvPr>
          <p:cNvSpPr>
            <a:spLocks noGrp="1"/>
          </p:cNvSpPr>
          <p:nvPr/>
        </p:nvSpPr>
        <p:spPr>
          <a:xfrm>
            <a:off x="660400" y="533401"/>
            <a:ext cx="1041400" cy="292100"/>
          </a:xfrm>
          <a:prstGeom prst="roundRect">
            <a:avLst>
              <a:gd name="adj" fmla="val 34783"/>
            </a:avLst>
          </a:prstGeom>
          <a:solidFill>
            <a:srgbClr val="E4E1F7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45F9CF-3A1F-4C15-B573-98EF34242E50}"/>
              </a:ext>
            </a:extLst>
          </p:cNvPr>
          <p:cNvSpPr>
            <a:spLocks noGrp="1"/>
          </p:cNvSpPr>
          <p:nvPr/>
        </p:nvSpPr>
        <p:spPr>
          <a:xfrm>
            <a:off x="787400" y="622301"/>
            <a:ext cx="78740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5556C9"/>
                </a:solidFill>
              </a:defRPr>
            </a:pPr>
            <a:r>
              <a:rPr sz="1100" b="1">
                <a:solidFill>
                  <a:srgbClr val="5556C9"/>
                </a:solidFill>
              </a:rPr>
              <a:t>FIZA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FF719B-000A-4C64-99DF-4053DCEA4AFC}"/>
              </a:ext>
            </a:extLst>
          </p:cNvPr>
          <p:cNvSpPr>
            <a:spLocks noGrp="1"/>
          </p:cNvSpPr>
          <p:nvPr/>
        </p:nvSpPr>
        <p:spPr>
          <a:xfrm>
            <a:off x="1841500" y="622301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65656B"/>
                </a:solidFill>
              </a:defRPr>
            </a:pPr>
            <a:r>
              <a:rPr sz="1100" b="1">
                <a:solidFill>
                  <a:srgbClr val="65656B"/>
                </a:solidFill>
              </a:rPr>
              <a:t>SRS SECTIONS 13–14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D894E-B6B9-427B-B5B5-CF5601FC742E}"/>
              </a:ext>
            </a:extLst>
          </p:cNvPr>
          <p:cNvSpPr>
            <a:spLocks noGrp="1"/>
          </p:cNvSpPr>
          <p:nvPr/>
        </p:nvSpPr>
        <p:spPr>
          <a:xfrm>
            <a:off x="660400" y="965200"/>
            <a:ext cx="10871200" cy="50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91919"/>
                </a:solidFill>
              </a:defRPr>
            </a:pPr>
            <a:r>
              <a:rPr sz="2800" b="1">
                <a:solidFill>
                  <a:srgbClr val="191919"/>
                </a:solidFill>
              </a:rPr>
              <a:t>Agile Development &amp; System Testing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602EAC0-0F15-4A6C-AB45-E3DA90D18368}"/>
              </a:ext>
            </a:extLst>
          </p:cNvPr>
          <p:cNvSpPr>
            <a:spLocks noGrp="1"/>
          </p:cNvSpPr>
          <p:nvPr/>
        </p:nvSpPr>
        <p:spPr>
          <a:xfrm>
            <a:off x="660400" y="1587501"/>
            <a:ext cx="4953000" cy="2730500"/>
          </a:xfrm>
          <a:prstGeom prst="roundRect">
            <a:avLst>
              <a:gd name="adj" fmla="val 3721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8B1366-93FE-4F44-A020-74DA2F5C3FC4}"/>
              </a:ext>
            </a:extLst>
          </p:cNvPr>
          <p:cNvSpPr>
            <a:spLocks noGrp="1"/>
          </p:cNvSpPr>
          <p:nvPr/>
        </p:nvSpPr>
        <p:spPr>
          <a:xfrm>
            <a:off x="6578600" y="1587501"/>
            <a:ext cx="4953000" cy="2730500"/>
          </a:xfrm>
          <a:prstGeom prst="roundRect">
            <a:avLst>
              <a:gd name="adj" fmla="val 3721"/>
            </a:avLst>
          </a:prstGeom>
          <a:solidFill>
            <a:srgbClr val="F7F7F9"/>
          </a:solidFill>
          <a:ln w="9525">
            <a:solidFill>
              <a:srgbClr val="D9D9D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7400" y="2302659"/>
            <a:ext cx="4699000" cy="128748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12378" y="1739900"/>
            <a:ext cx="3485444" cy="2413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A1132B7-F77A-437B-B41E-3267058F424A}"/>
              </a:ext>
            </a:extLst>
          </p:cNvPr>
          <p:cNvSpPr>
            <a:spLocks noGrp="1"/>
          </p:cNvSpPr>
          <p:nvPr/>
        </p:nvSpPr>
        <p:spPr>
          <a:xfrm>
            <a:off x="660400" y="4419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Agile Scrum delivery cycle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F609AA-8D2B-4393-B108-DBF0D895EE7B}"/>
              </a:ext>
            </a:extLst>
          </p:cNvPr>
          <p:cNvSpPr>
            <a:spLocks noGrp="1"/>
          </p:cNvSpPr>
          <p:nvPr/>
        </p:nvSpPr>
        <p:spPr>
          <a:xfrm>
            <a:off x="6578600" y="44196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85858C"/>
                </a:solidFill>
              </a:defRPr>
            </a:pPr>
            <a:r>
              <a:rPr sz="1000">
                <a:solidFill>
                  <a:srgbClr val="85858C"/>
                </a:solidFill>
              </a:rPr>
              <a:t>TC10–TC12 — module test coverage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6A6001-C6EC-46F5-81BF-EE6DC475B453}"/>
              </a:ext>
            </a:extLst>
          </p:cNvPr>
          <p:cNvSpPr>
            <a:spLocks noGrp="1"/>
          </p:cNvSpPr>
          <p:nvPr/>
        </p:nvSpPr>
        <p:spPr>
          <a:xfrm>
            <a:off x="660400" y="50038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94BAE-6BC4-4FFC-8028-74C73477E9F9}"/>
              </a:ext>
            </a:extLst>
          </p:cNvPr>
          <p:cNvSpPr>
            <a:spLocks noGrp="1"/>
          </p:cNvSpPr>
          <p:nvPr/>
        </p:nvSpPr>
        <p:spPr>
          <a:xfrm>
            <a:off x="889000" y="49530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Six two-week sprints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D87FEF-17E7-4DEE-8CC7-ADAE38F4BAC2}"/>
              </a:ext>
            </a:extLst>
          </p:cNvPr>
          <p:cNvSpPr>
            <a:spLocks noGrp="1"/>
          </p:cNvSpPr>
          <p:nvPr/>
        </p:nvSpPr>
        <p:spPr>
          <a:xfrm>
            <a:off x="889000" y="5295901"/>
            <a:ext cx="32004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The five-member team delivers Driver &amp; Route Management in Sprint 4.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AB6A01-860D-4ECC-A9D0-6BF4E838DACC}"/>
              </a:ext>
            </a:extLst>
          </p:cNvPr>
          <p:cNvSpPr>
            <a:spLocks noGrp="1"/>
          </p:cNvSpPr>
          <p:nvPr/>
        </p:nvSpPr>
        <p:spPr>
          <a:xfrm>
            <a:off x="4381500" y="50038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513DC6-0A51-43C8-8EEE-E2C1166CD882}"/>
              </a:ext>
            </a:extLst>
          </p:cNvPr>
          <p:cNvSpPr>
            <a:spLocks noGrp="1"/>
          </p:cNvSpPr>
          <p:nvPr/>
        </p:nvSpPr>
        <p:spPr>
          <a:xfrm>
            <a:off x="4610100" y="49530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Continuous verification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98DEE3-2CF4-4C5C-837D-36B612E4ACC8}"/>
              </a:ext>
            </a:extLst>
          </p:cNvPr>
          <p:cNvSpPr>
            <a:spLocks noGrp="1"/>
          </p:cNvSpPr>
          <p:nvPr/>
        </p:nvSpPr>
        <p:spPr>
          <a:xfrm>
            <a:off x="4610100" y="5295901"/>
            <a:ext cx="32004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Unit, integration and system testing are performed throughout development.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1F46C3-73B4-4199-A20A-DF6F31B326DE}"/>
              </a:ext>
            </a:extLst>
          </p:cNvPr>
          <p:cNvSpPr>
            <a:spLocks noGrp="1"/>
          </p:cNvSpPr>
          <p:nvPr/>
        </p:nvSpPr>
        <p:spPr>
          <a:xfrm>
            <a:off x="8102600" y="5003800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5556C9"/>
          </a:solidFill>
          <a:ln w="0">
            <a:noFill/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0C0BC2-8484-468E-A9B4-7C187E0159DC}"/>
              </a:ext>
            </a:extLst>
          </p:cNvPr>
          <p:cNvSpPr>
            <a:spLocks noGrp="1"/>
          </p:cNvSpPr>
          <p:nvPr/>
        </p:nvSpPr>
        <p:spPr>
          <a:xfrm>
            <a:off x="8331200" y="4953000"/>
            <a:ext cx="3200400" cy="27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91919"/>
                </a:solidFill>
              </a:defRPr>
            </a:pPr>
            <a:r>
              <a:rPr sz="1500" b="1">
                <a:solidFill>
                  <a:srgbClr val="191919"/>
                </a:solidFill>
              </a:rPr>
              <a:t>Acceptance criteria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5A8090-F94D-46A2-9E91-E7E8F0EE561A}"/>
              </a:ext>
            </a:extLst>
          </p:cNvPr>
          <p:cNvSpPr>
            <a:spLocks noGrp="1"/>
          </p:cNvSpPr>
          <p:nvPr/>
        </p:nvSpPr>
        <p:spPr>
          <a:xfrm>
            <a:off x="8331200" y="5295901"/>
            <a:ext cx="3200400" cy="69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5656B"/>
                </a:solidFill>
              </a:defRPr>
            </a:pPr>
            <a:r>
              <a:rPr sz="1200">
                <a:solidFill>
                  <a:srgbClr val="65656B"/>
                </a:solidFill>
              </a:rPr>
              <a:t>Capacity, schedule/status and optimised-route tests must pass before release.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B34F5D-D98F-462C-B6D4-C4F79B5F7639}"/>
              </a:ext>
            </a:extLst>
          </p:cNvPr>
          <p:cNvSpPr>
            <a:spLocks noGrp="1"/>
          </p:cNvSpPr>
          <p:nvPr/>
        </p:nvSpPr>
        <p:spPr>
          <a:xfrm>
            <a:off x="660400" y="6413500"/>
            <a:ext cx="1087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75" b="0">
                <a:solidFill>
                  <a:srgbClr val="8A8A91"/>
                </a:solidFill>
              </a:defRPr>
            </a:pPr>
            <a:r>
              <a:rPr sz="900">
                <a:solidFill>
                  <a:srgbClr val="8A8A91"/>
                </a:solidFill>
              </a:rPr>
              <a:t>Final release requires traceable tests, no open Severity 1–2 defects and formal BINCOL approval.</a:t>
            </a:r>
          </a:p>
        </p:txBody>
      </p:sp>
    </p:spTree>
    <p:extLst>
      <p:ext uri="{BB962C8B-B14F-4D97-AF65-F5344CB8AC3E}">
        <p14:creationId xmlns:p14="http://schemas.microsoft.com/office/powerpoint/2010/main" val="19829002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Interface Design &amp; User Journey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2086661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2086661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2086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2185416"/>
            <a:ext cx="1867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Request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" y="2606040"/>
            <a:ext cx="18672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bin size, date &amp; time, estimated cost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17013" y="1755648"/>
            <a:ext cx="201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99893" y="1755648"/>
            <a:ext cx="2086661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2799893" y="1755648"/>
            <a:ext cx="2086661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2799893" y="1755648"/>
            <a:ext cx="2086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09621" y="2185416"/>
            <a:ext cx="1867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Confirm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09621" y="2606040"/>
            <a:ext cx="18672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shown before final confirmation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68266" y="1755648"/>
            <a:ext cx="201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51146" y="1755648"/>
            <a:ext cx="2086661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5051146" y="1755648"/>
            <a:ext cx="2086661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051146" y="1755648"/>
            <a:ext cx="2086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0874" y="2185416"/>
            <a:ext cx="1867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Pickups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160874" y="2606040"/>
            <a:ext cx="18672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Pending / Assigned / Completed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119518" y="1755648"/>
            <a:ext cx="201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02398" y="1755648"/>
            <a:ext cx="2086661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7302398" y="1755648"/>
            <a:ext cx="2086661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7302398" y="1755648"/>
            <a:ext cx="2086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12126" y="2185416"/>
            <a:ext cx="1867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Pickup Detail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412126" y="2606040"/>
            <a:ext cx="18672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booking details + status stepper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370771" y="1755648"/>
            <a:ext cx="201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53651" y="1755648"/>
            <a:ext cx="2086661" cy="1417320"/>
          </a:xfrm>
          <a:prstGeom prst="roundRect">
            <a:avLst>
              <a:gd name="adj" fmla="val 516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9553651" y="1755648"/>
            <a:ext cx="2086661" cy="36576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9553651" y="1755648"/>
            <a:ext cx="2086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63379" y="2185416"/>
            <a:ext cx="18672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Reschedule / Cancel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63379" y="2606040"/>
            <a:ext cx="186720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slot, or cancel with confirmation step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3520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JOURNEY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3858768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548640" y="3858768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548640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5800" y="4288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Queue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5800" y="4636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review incoming pickup requests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4096512" y="3858768"/>
            <a:ext cx="365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4389120" y="3858768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Shape 41"/>
          <p:cNvSpPr/>
          <p:nvPr/>
        </p:nvSpPr>
        <p:spPr>
          <a:xfrm>
            <a:off x="4389120" y="3858768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4389120" y="38587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26280" y="4288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 Request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526280" y="4636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truck &amp; driver, add a customer note, save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8366760" y="3858768"/>
            <a:ext cx="32735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8549640" y="397764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designed: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549640" y="4251960"/>
            <a:ext cx="2907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Pickups — Empty State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Request — Validation Errors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Request Page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100881" y="1371600"/>
            <a:ext cx="599023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slide_new_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9481" y="1600200"/>
            <a:ext cx="5533038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selects one-time or recurring, sets waste category, bin size, quantity, date and time, and sees the estimated cost before continuing.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Request — Validation Errors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191857" y="1371600"/>
            <a:ext cx="5808285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slide_validation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457" y="1600200"/>
            <a:ext cx="5351085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are validated inline — the customer cannot continue to Review &amp; Confirm until every error is resolved.</a:t>
            </a:r>
            <a:endParaRPr lang="en-US" sz="1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— Payment &amp; Billing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50250" cy="47706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6" name="Image 0" descr="dfd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4893050" cy="4362970"/>
          </a:xfrm>
          <a:prstGeom prst="rect">
            <a:avLst/>
          </a:prstGeom>
        </p:spPr>
      </p:pic>
      <p:sp>
        <p:nvSpPr>
          <p:cNvPr id="8" name="Right Heading"/>
          <p:cNvSpPr/>
          <p:nvPr/>
        </p:nvSpPr>
        <p:spPr>
          <a:xfrm>
            <a:off x="6081770" y="1417320"/>
            <a:ext cx="56530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payment flow works</a:t>
            </a:r>
          </a:p>
        </p:txBody>
      </p:sp>
      <p:sp>
        <p:nvSpPr>
          <p:cNvPr id="9" name="Right Bullets"/>
          <p:cNvSpPr/>
          <p:nvPr/>
        </p:nvSpPr>
        <p:spPr>
          <a:xfrm>
            <a:off x="6081770" y="2194560"/>
            <a:ext cx="5653030" cy="41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Clr>
                <a:srgbClr val="5B67C3"/>
              </a:buClr>
              <a:buFont typeface="Arial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</a:rPr>
              <a:t>4.0 opened up</a:t>
            </a:r>
          </a:p>
          <a:p>
            <a:pPr marL="34290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</a:rPr>
              <a:t>The billing process breaks into five sub-processes, from invoice generation through to overdue reminders.</a:t>
            </a:r>
          </a:p>
          <a:p>
            <a:pPr marL="342900" indent="-342900">
              <a:buClr>
                <a:srgbClr val="5B67C3"/>
              </a:buClr>
              <a:buFont typeface="Arial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</a:rPr>
              <a:t>Invoice and payment</a:t>
            </a:r>
          </a:p>
          <a:p>
            <a:pPr marL="34290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</a:rPr>
              <a:t>A completed pickup generates an invoice, and the business customer pays by card, PayPal or Stripe through the payment gateway.</a:t>
            </a:r>
          </a:p>
          <a:p>
            <a:pPr marL="342900" indent="-342900">
              <a:buClr>
                <a:srgbClr val="5B67C3"/>
              </a:buClr>
              <a:buFont typeface="Arial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</a:rPr>
              <a:t>Record and remind</a:t>
            </a:r>
          </a:p>
          <a:p>
            <a:pPr marL="34290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</a:rPr>
              <a:t>Confirmed payments are timestamped in D4, invoices become downloadable, and overdue invoices trigger reminders.</a:t>
            </a:r>
          </a:p>
          <a:p>
            <a:pPr marL="342900" indent="-342900">
              <a:buClr>
                <a:srgbClr val="5B67C3"/>
              </a:buClr>
              <a:buFont typeface="Arial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</a:rPr>
              <a:t>Balanced external flow</a:t>
            </a:r>
          </a:p>
          <a:p>
            <a:pPr marL="34290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</a:rPr>
              <a:t>Business Customer, Payment Gateway and Notifications stay consistent with the parent Level 1 process.</a:t>
            </a:r>
          </a:p>
        </p:txBody>
      </p:sp>
      <p:sp>
        <p:nvSpPr>
          <p:cNvPr id="7" name="Text 4"/>
          <p:cNvSpPr/>
          <p:nvPr/>
        </p:nvSpPr>
        <p:spPr>
          <a:xfrm>
            <a:off x="457200" y="6337960"/>
            <a:ext cx="1127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payment chain: Payment → Invoice → Pickup Request → Business Customer → User  —  assessed in the DPIA (Section 12.0)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Section Documents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dictionary is the technical reference for every table in the BINCOL database — the single source of truth that developers, testers and future maintainers use to understand exactly what each field stores and how tables relate to one another.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4360" y="3319272"/>
            <a:ext cx="109728" cy="1097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 </a:t>
            </a: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column name as defined in the schema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94360" y="3886200"/>
            <a:ext cx="109728" cy="1097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868680" y="3813048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 </a:t>
            </a: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VARCHAR, DATE, DECIMAL, BOOLEAN, ENUM, TEXT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4360" y="4453128"/>
            <a:ext cx="109728" cy="1097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868680" y="4379976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 </a:t>
            </a: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meaning of the field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4360" y="5020056"/>
            <a:ext cx="109728" cy="109728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868680" y="4946904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Key, Foreign Key, Not Null, Unique, Default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89520" y="1417320"/>
            <a:ext cx="4023360" cy="4846320"/>
          </a:xfrm>
          <a:prstGeom prst="roundRect">
            <a:avLst>
              <a:gd name="adj" fmla="val 181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7589520" y="19659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758952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Documented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38160" y="3383280"/>
            <a:ext cx="29260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7955280" y="37033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 </a:t>
            </a:r>
            <a:r>
              <a:rPr lang="en-US" sz="15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across all tables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955280" y="4389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5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entity groups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955280" y="5074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5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transactional table — pickup_requests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by Functional Group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tables organised into 5 functional areas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072030" cy="365760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749808" y="26974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3337560"/>
            <a:ext cx="16696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9808" y="4041648"/>
            <a:ext cx="1669694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49808" y="4160520"/>
            <a:ext cx="16696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business_customers, branches, storage_locations, customer_documents, customer_preferences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03550" y="2468880"/>
            <a:ext cx="2072030" cy="365760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3004718" y="26974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004718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004718" y="3337560"/>
            <a:ext cx="16696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 Company / System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3004718" y="4041648"/>
            <a:ext cx="1669694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3004718" y="4160520"/>
            <a:ext cx="16696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waste_companies, company_staff, drivers, trucks, bin_inventory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58461" y="2468880"/>
            <a:ext cx="2072030" cy="365760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5259629" y="26974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259629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59629" y="3337560"/>
            <a:ext cx="16696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 Catalogue &amp; Pickup Request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5259629" y="4041648"/>
            <a:ext cx="1669694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5259629" y="4160520"/>
            <a:ext cx="16696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waste_categories, bin_types, bin_compatibility, pricing_rates, pickup_requests, recurring_schedules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3371" y="2468880"/>
            <a:ext cx="2072030" cy="365760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7514539" y="26974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514539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514539" y="3337560"/>
            <a:ext cx="16696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514539" y="4041648"/>
            <a:ext cx="1669694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7514539" y="4160520"/>
            <a:ext cx="16696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service_assignments, status_updates, routes, route_stops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568282" y="2468880"/>
            <a:ext cx="2072030" cy="365760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9769450" y="26974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976945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769450" y="3337560"/>
            <a:ext cx="16696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Feedback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769450" y="4041648"/>
            <a:ext cx="1669694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9769450" y="4160520"/>
            <a:ext cx="166969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invoices, payments, notifications, messages, feedback, feedback_responses, report_exports, audit_logs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3NF?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 — the design rule behind our table structure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is in 3NF when every field describes only that row's own ID — nothing else. In practice, this means: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3035808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repeating groups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cram bin_type_1, bin_type_2, bin_type_3 into one row — give it its own table.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995928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data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and email don't belong inside pickup_requests — they live once, in business_customers.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014984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68680" y="52120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6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data is only stored once, updating it in one place keeps the whole system correct — no risk of two records disagreeing.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Conducted a DPIA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14344" cy="4572000"/>
          </a:xfrm>
          <a:prstGeom prst="roundRect">
            <a:avLst>
              <a:gd name="adj" fmla="val 20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DPIA?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296570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9657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process required under the Australian Privacy Principles to identify and reduce privacy risks in a system before it goes live — not a one-off form, but part of the design process itself.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7304" y="1508760"/>
            <a:ext cx="3514344" cy="4572000"/>
          </a:xfrm>
          <a:prstGeom prst="roundRect">
            <a:avLst>
              <a:gd name="adj" fmla="val 20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4611624" y="178308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added it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611624" y="2377440"/>
            <a:ext cx="296570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611624" y="2560320"/>
            <a:ext cx="29657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&amp; Billing module links payment data back to an identifiable person through a traceable chain: Payments → Invoices → Pickup Requests → Business Customers → Users. That kind of processing is exactly what triggers the requirement under APP 11.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5968" y="1508760"/>
            <a:ext cx="3514344" cy="4572000"/>
          </a:xfrm>
          <a:prstGeom prst="roundRect">
            <a:avLst>
              <a:gd name="adj" fmla="val 20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8400288" y="1783080"/>
            <a:ext cx="2965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400288" y="2377440"/>
            <a:ext cx="2965704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8400288" y="2560320"/>
            <a:ext cx="296570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privacy risks at design time, when they're cheap to fix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compliance with the Privacy Act 1988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customer trust through responsible data handling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a clear risk record for future maintainers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privacy by design into the architecture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Impact Assessment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 →  Invoices  →  Pickup Requests  →  Business Customers  →  Users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payment data traces back to an identifiable individual through this chain, the module required a DPIA under APP 11.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777240" y="300037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777240" y="300037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920240" y="286207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access to the payments table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20240" y="318325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every query scoped to the authenticated customer_id / company_id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1475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777240" y="392620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777240" y="392620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920240" y="378790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/ query-scoping error on request_id, customer_id, invoice_id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920240" y="410908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all inputs parameterised, validated and sanitised (NFR7)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64058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777240" y="485203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777240" y="485203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920240" y="471373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or staff role retrieving more data than their task needs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920240" y="503491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RBAC enforced at the join level, not just the table level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556641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777240" y="577786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777240" y="577786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920240" y="563956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documents accessed outside the owning customer record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920240" y="596074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ownership checked on every document request</a:t>
            </a:r>
            <a:endParaRPr lang="en-US" sz="14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CD46F-242C-A366-7817-356B5128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17AAEE-8FF6-303F-B9F4-0E11F452FC15}"/>
              </a:ext>
            </a:extLst>
          </p:cNvPr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BBB73A-00B2-11FD-3261-3F5FE39FA15D}"/>
              </a:ext>
            </a:extLst>
          </p:cNvPr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Impact Assessment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D1BF0B-D187-3A44-4870-DAD7F8214719}"/>
              </a:ext>
            </a:extLst>
          </p:cNvPr>
          <p:cNvSpPr/>
          <p:nvPr/>
        </p:nvSpPr>
        <p:spPr>
          <a:xfrm>
            <a:off x="548640" y="14630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E07C88-F394-D74C-B533-F5FEEF8C4B94}"/>
              </a:ext>
            </a:extLst>
          </p:cNvPr>
          <p:cNvSpPr/>
          <p:nvPr/>
        </p:nvSpPr>
        <p:spPr>
          <a:xfrm>
            <a:off x="731520" y="146304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 →  Invoices  →  Pickup Requests  →  Business Customers  →  Users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E7A3BA5-8305-E916-4878-DEFADF41104A}"/>
              </a:ext>
            </a:extLst>
          </p:cNvPr>
          <p:cNvSpPr/>
          <p:nvPr/>
        </p:nvSpPr>
        <p:spPr>
          <a:xfrm>
            <a:off x="548640" y="2331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payment data traces back to an identifiable individual through this chain, the module required a DPIA under APP 11.</a:t>
            </a:r>
            <a:endParaRPr lang="en-US" sz="15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194B295-1EF1-7DC5-CCFE-4490D72C4AF1}"/>
              </a:ext>
            </a:extLst>
          </p:cNvPr>
          <p:cNvSpPr/>
          <p:nvPr/>
        </p:nvSpPr>
        <p:spPr>
          <a:xfrm>
            <a:off x="548640" y="278892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01C8503-EB13-2360-0332-508477EA8C53}"/>
              </a:ext>
            </a:extLst>
          </p:cNvPr>
          <p:cNvSpPr/>
          <p:nvPr/>
        </p:nvSpPr>
        <p:spPr>
          <a:xfrm>
            <a:off x="777240" y="300037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0227A03-6FA6-8FF9-E0F8-C7DAAB60D3CD}"/>
              </a:ext>
            </a:extLst>
          </p:cNvPr>
          <p:cNvSpPr/>
          <p:nvPr/>
        </p:nvSpPr>
        <p:spPr>
          <a:xfrm>
            <a:off x="777240" y="300037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85959A-6C41-768C-F525-E02C96E68D75}"/>
              </a:ext>
            </a:extLst>
          </p:cNvPr>
          <p:cNvSpPr/>
          <p:nvPr/>
        </p:nvSpPr>
        <p:spPr>
          <a:xfrm>
            <a:off x="1920240" y="286207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access to the payments table</a:t>
            </a:r>
            <a:endParaRPr lang="en-US" sz="16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C984978-5027-2472-A234-D193821B6F2F}"/>
              </a:ext>
            </a:extLst>
          </p:cNvPr>
          <p:cNvSpPr/>
          <p:nvPr/>
        </p:nvSpPr>
        <p:spPr>
          <a:xfrm>
            <a:off x="1920240" y="318325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every query scoped to the authenticated customer_id / company_id</a:t>
            </a:r>
            <a:endParaRPr lang="en-US" sz="14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BB7163-971F-2375-3697-21A801C186EF}"/>
              </a:ext>
            </a:extLst>
          </p:cNvPr>
          <p:cNvSpPr/>
          <p:nvPr/>
        </p:nvSpPr>
        <p:spPr>
          <a:xfrm>
            <a:off x="548640" y="371475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911CDCA-2410-D3C2-D284-885A8BB9F221}"/>
              </a:ext>
            </a:extLst>
          </p:cNvPr>
          <p:cNvSpPr/>
          <p:nvPr/>
        </p:nvSpPr>
        <p:spPr>
          <a:xfrm>
            <a:off x="777240" y="392620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1709BC1-C618-2701-B370-E767A8022303}"/>
              </a:ext>
            </a:extLst>
          </p:cNvPr>
          <p:cNvSpPr/>
          <p:nvPr/>
        </p:nvSpPr>
        <p:spPr>
          <a:xfrm>
            <a:off x="777240" y="392620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115B031-4B45-891C-0224-CA58C3315259}"/>
              </a:ext>
            </a:extLst>
          </p:cNvPr>
          <p:cNvSpPr/>
          <p:nvPr/>
        </p:nvSpPr>
        <p:spPr>
          <a:xfrm>
            <a:off x="1920240" y="378790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/ query-scoping error on request_id, customer_id, invoice_id</a:t>
            </a:r>
            <a:endParaRPr lang="en-US" sz="16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DD4ABB9-372D-1D11-B980-33A895EDE3A1}"/>
              </a:ext>
            </a:extLst>
          </p:cNvPr>
          <p:cNvSpPr/>
          <p:nvPr/>
        </p:nvSpPr>
        <p:spPr>
          <a:xfrm>
            <a:off x="1920240" y="410908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all inputs parameterised, validated and sanitised (NFR7)</a:t>
            </a:r>
            <a:endParaRPr lang="en-US" sz="14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2F424E2-B7DD-0842-D583-53252F097B57}"/>
              </a:ext>
            </a:extLst>
          </p:cNvPr>
          <p:cNvSpPr/>
          <p:nvPr/>
        </p:nvSpPr>
        <p:spPr>
          <a:xfrm>
            <a:off x="548640" y="464058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C3FF39C-384B-C28B-A6BB-4113D501B862}"/>
              </a:ext>
            </a:extLst>
          </p:cNvPr>
          <p:cNvSpPr/>
          <p:nvPr/>
        </p:nvSpPr>
        <p:spPr>
          <a:xfrm>
            <a:off x="777240" y="485203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5CECF32-68CD-F9FC-6FBB-23871AC9062D}"/>
              </a:ext>
            </a:extLst>
          </p:cNvPr>
          <p:cNvSpPr/>
          <p:nvPr/>
        </p:nvSpPr>
        <p:spPr>
          <a:xfrm>
            <a:off x="777240" y="485203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D9B5E53-CE63-6DFE-4B47-235B6EB8300F}"/>
              </a:ext>
            </a:extLst>
          </p:cNvPr>
          <p:cNvSpPr/>
          <p:nvPr/>
        </p:nvSpPr>
        <p:spPr>
          <a:xfrm>
            <a:off x="1920240" y="471373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or staff role retrieving more data than their task needs</a:t>
            </a:r>
            <a:endParaRPr lang="en-US" sz="16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E76BA08-4700-B554-248B-0A6008ED73AB}"/>
              </a:ext>
            </a:extLst>
          </p:cNvPr>
          <p:cNvSpPr/>
          <p:nvPr/>
        </p:nvSpPr>
        <p:spPr>
          <a:xfrm>
            <a:off x="1920240" y="503491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RBAC enforced at the join level, not just the table level</a:t>
            </a:r>
            <a:endParaRPr lang="en-US" sz="14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E878DD8-9481-5648-23EB-381F8DA6F1A5}"/>
              </a:ext>
            </a:extLst>
          </p:cNvPr>
          <p:cNvSpPr/>
          <p:nvPr/>
        </p:nvSpPr>
        <p:spPr>
          <a:xfrm>
            <a:off x="548640" y="5566410"/>
            <a:ext cx="11091672" cy="78867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9EFEB5D-55AC-E036-0BEC-14EFB7CB0BA1}"/>
              </a:ext>
            </a:extLst>
          </p:cNvPr>
          <p:cNvSpPr/>
          <p:nvPr/>
        </p:nvSpPr>
        <p:spPr>
          <a:xfrm>
            <a:off x="777240" y="5777865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FEBB42F-729B-25A1-7AFE-A155F83BC4EA}"/>
              </a:ext>
            </a:extLst>
          </p:cNvPr>
          <p:cNvSpPr/>
          <p:nvPr/>
        </p:nvSpPr>
        <p:spPr>
          <a:xfrm>
            <a:off x="777240" y="5777865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CF61A02-3FEE-2CA1-68C1-EF029268716E}"/>
              </a:ext>
            </a:extLst>
          </p:cNvPr>
          <p:cNvSpPr/>
          <p:nvPr/>
        </p:nvSpPr>
        <p:spPr>
          <a:xfrm>
            <a:off x="1920240" y="5639562"/>
            <a:ext cx="9445752" cy="394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documents accessed outside the owning customer record</a:t>
            </a:r>
            <a:endParaRPr lang="en-US" sz="16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4D4D94C-05AB-A470-5B6B-AFD53C2259C5}"/>
              </a:ext>
            </a:extLst>
          </p:cNvPr>
          <p:cNvSpPr/>
          <p:nvPr/>
        </p:nvSpPr>
        <p:spPr>
          <a:xfrm>
            <a:off x="1920240" y="5960745"/>
            <a:ext cx="9445752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ownership checked on every document request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2073828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130" y="731520"/>
            <a:ext cx="10712921" cy="58155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10896"/>
            <a:ext cx="11064240" cy="42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latin typeface="Inter Bold"/>
              </a:rPr>
              <a:t>Entity Relationship Diagram (ERD)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7B68F-0D37-A3D2-BB34-FBC73EAD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F3AF58-CF88-6FEA-CAE7-C6506A64E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77" y="0"/>
            <a:ext cx="4849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009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44DD0-F17E-E0BA-F442-3AF62FFA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7B7D9C-6DC6-96E9-A1FF-4E5A09915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77" y="0"/>
            <a:ext cx="4849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594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3B5CB-C21D-AADE-9B92-47BD53FF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A01D83-C7A2-6364-9E79-06B8D3D7E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77" y="0"/>
            <a:ext cx="4849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592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D6204-5FE6-42A9-F52C-D8020A6B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895B28-96ED-CA1F-BBA0-95440163E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77" y="0"/>
            <a:ext cx="4849446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BF907-C0A8-BEB2-8CE9-431C48423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77" y="0"/>
            <a:ext cx="4849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70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5732</Words>
  <Application>Microsoft Office PowerPoint</Application>
  <PresentationFormat>Widescreen</PresentationFormat>
  <Paragraphs>628</Paragraphs>
  <Slides>46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Aptos</vt:lpstr>
      <vt:lpstr>Aptos Display</vt:lpstr>
      <vt:lpstr>Arial</vt:lpstr>
      <vt:lpstr>Calibri</vt:lpstr>
      <vt:lpstr>Cambria</vt:lpstr>
      <vt:lpstr>Inter</vt:lpstr>
      <vt:lpstr>Inter Bold</vt:lpstr>
      <vt:lpstr>Inter Light</vt:lpstr>
      <vt:lpstr>Microsoft Tai 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imrrankhaan12@gmail.com</dc:creator>
  <cp:lastModifiedBy>imrrankhaan12@gmail.com</cp:lastModifiedBy>
  <cp:revision>16</cp:revision>
  <dcterms:created xsi:type="dcterms:W3CDTF">2026-08-18T01:48:51Z</dcterms:created>
  <dcterms:modified xsi:type="dcterms:W3CDTF">2026-08-23T09:57:19Z</dcterms:modified>
</cp:coreProperties>
</file>